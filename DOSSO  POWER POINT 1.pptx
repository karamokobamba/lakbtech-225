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1"/>
  </p:sldMasterIdLst>
  <p:notesMasterIdLst>
    <p:notesMasterId r:id="rId17"/>
  </p:notesMasterIdLst>
  <p:handoutMasterIdLst>
    <p:handoutMasterId r:id="rId18"/>
  </p:handoutMasterIdLst>
  <p:sldIdLst>
    <p:sldId id="279" r:id="rId2"/>
    <p:sldId id="257" r:id="rId3"/>
    <p:sldId id="259" r:id="rId4"/>
    <p:sldId id="282" r:id="rId5"/>
    <p:sldId id="261" r:id="rId6"/>
    <p:sldId id="263" r:id="rId7"/>
    <p:sldId id="266" r:id="rId8"/>
    <p:sldId id="264" r:id="rId9"/>
    <p:sldId id="265" r:id="rId10"/>
    <p:sldId id="281" r:id="rId11"/>
    <p:sldId id="268" r:id="rId12"/>
    <p:sldId id="276" r:id="rId13"/>
    <p:sldId id="280" r:id="rId14"/>
    <p:sldId id="283" r:id="rId15"/>
    <p:sldId id="275"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77874" autoAdjust="0"/>
  </p:normalViewPr>
  <p:slideViewPr>
    <p:cSldViewPr snapToGrid="0" snapToObjects="1">
      <p:cViewPr varScale="1">
        <p:scale>
          <a:sx n="61" d="100"/>
          <a:sy n="61" d="100"/>
        </p:scale>
        <p:origin x="456" y="60"/>
      </p:cViewPr>
      <p:guideLst>
        <p:guide orient="horz" pos="2160"/>
        <p:guide pos="3840"/>
      </p:guideLst>
    </p:cSldViewPr>
  </p:slideViewPr>
  <p:notesTextViewPr>
    <p:cViewPr>
      <p:scale>
        <a:sx n="1" d="1"/>
        <a:sy n="1" d="1"/>
      </p:scale>
      <p:origin x="0" y="0"/>
    </p:cViewPr>
  </p:notesTextViewPr>
  <p:notesViewPr>
    <p:cSldViewPr snapToGrid="0" snapToObjects="1">
      <p:cViewPr varScale="1">
        <p:scale>
          <a:sx n="28" d="100"/>
          <a:sy n="28" d="100"/>
        </p:scale>
        <p:origin x="1795" y="3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78C5213-3360-400B-94CB-721B9137EDF7}" type="datetimeFigureOut">
              <a:rPr lang="fr-FR" smtClean="0"/>
              <a:t>12/05/2026</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E0F29B1-77D1-41AC-A38F-2FEA10B76E8A}" type="slidenum">
              <a:rPr lang="fr-FR" smtClean="0"/>
              <a:t>‹N°›</a:t>
            </a:fld>
            <a:endParaRPr lang="fr-FR"/>
          </a:p>
        </p:txBody>
      </p:sp>
    </p:spTree>
    <p:extLst>
      <p:ext uri="{BB962C8B-B14F-4D97-AF65-F5344CB8AC3E}">
        <p14:creationId xmlns:p14="http://schemas.microsoft.com/office/powerpoint/2010/main" val="4427630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7E8FA1-6454-4A6B-9317-D23D7D89F5DA}" type="datetimeFigureOut">
              <a:rPr lang="fr-FR" smtClean="0"/>
              <a:t>12/05/2026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338FC2-BBDD-4B3C-BCE5-442F28365FA6}" type="slidenum">
              <a:rPr lang="fr-FR" smtClean="0"/>
              <a:t>‹N°›</a:t>
            </a:fld>
            <a:endParaRPr lang="fr-FR"/>
          </a:p>
        </p:txBody>
      </p:sp>
    </p:spTree>
    <p:extLst>
      <p:ext uri="{BB962C8B-B14F-4D97-AF65-F5344CB8AC3E}">
        <p14:creationId xmlns:p14="http://schemas.microsoft.com/office/powerpoint/2010/main" val="1462844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FD338FC2-BBDD-4B3C-BCE5-442F28365FA6}" type="slidenum">
              <a:rPr lang="fr-FR" smtClean="0"/>
              <a:t>1</a:t>
            </a:fld>
            <a:endParaRPr lang="fr-FR"/>
          </a:p>
        </p:txBody>
      </p:sp>
    </p:spTree>
    <p:extLst>
      <p:ext uri="{BB962C8B-B14F-4D97-AF65-F5344CB8AC3E}">
        <p14:creationId xmlns:p14="http://schemas.microsoft.com/office/powerpoint/2010/main" val="1161740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Bonjour Mesdames et Messieurs les membres du jury,</a:t>
            </a:r>
          </a:p>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Bonjour chers parents et chers condisciples.</a:t>
            </a:r>
          </a:p>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Je me nomme DOSSO MEKO, étudiant en Master 2, option Éducation et Motricité.</a:t>
            </a:r>
          </a:p>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C’est avec un immense plaisir et un grand honneur que je prends la parole devant vous ce matin pour vous présenter le travail réalisé dans le cadre de mon stage de fin de formation en Éducation Physique et Sportive, intitulé :</a:t>
            </a:r>
          </a:p>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 Le désintérêt des filles du second cycle pendant le saut en longueur : cas du Lycée Moderne Alphonse </a:t>
            </a:r>
            <a:r>
              <a:rPr lang="fr-FR" dirty="0" err="1" smtClean="0"/>
              <a:t>Assamoi</a:t>
            </a:r>
            <a:r>
              <a:rPr lang="fr-FR" dirty="0" smtClean="0"/>
              <a:t> de Divo ».</a:t>
            </a:r>
          </a:p>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Ce travail a été réalisé sous la direction de Dr AMARA BAMBA.</a:t>
            </a:r>
          </a:p>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Pour </a:t>
            </a:r>
            <a:r>
              <a:rPr lang="fr-FR" dirty="0"/>
              <a:t>mieux présenter notre travail, nous</a:t>
            </a:r>
            <a:r>
              <a:rPr lang="fr-FR" baseline="0" dirty="0"/>
              <a:t> avons élaboré un plan qui se décline comme suit:</a:t>
            </a:r>
            <a:endParaRPr lang="fr-FR" dirty="0"/>
          </a:p>
          <a:p>
            <a:endParaRPr lang="fr-FR" dirty="0"/>
          </a:p>
        </p:txBody>
      </p:sp>
      <p:sp>
        <p:nvSpPr>
          <p:cNvPr id="4" name="Espace réservé du numéro de diapositive 3"/>
          <p:cNvSpPr>
            <a:spLocks noGrp="1"/>
          </p:cNvSpPr>
          <p:nvPr>
            <p:ph type="sldNum" sz="quarter" idx="10"/>
          </p:nvPr>
        </p:nvSpPr>
        <p:spPr/>
        <p:txBody>
          <a:bodyPr/>
          <a:lstStyle/>
          <a:p>
            <a:fld id="{FD338FC2-BBDD-4B3C-BCE5-442F28365FA6}" type="slidenum">
              <a:rPr lang="fr-FR" smtClean="0"/>
              <a:t>2</a:t>
            </a:fld>
            <a:endParaRPr lang="fr-FR"/>
          </a:p>
        </p:txBody>
      </p:sp>
    </p:spTree>
    <p:extLst>
      <p:ext uri="{BB962C8B-B14F-4D97-AF65-F5344CB8AC3E}">
        <p14:creationId xmlns:p14="http://schemas.microsoft.com/office/powerpoint/2010/main" val="30700642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dirty="0"/>
              <a:t>À</a:t>
            </a:r>
            <a:r>
              <a:rPr lang="fr-FR" baseline="0" dirty="0"/>
              <a:t> partir de ce plan, nous allons </a:t>
            </a:r>
            <a:r>
              <a:rPr lang="fr-FR" baseline="0" dirty="0" smtClean="0"/>
              <a:t>élaborer le premier point de notre présentation à savoir : L’introduction.</a:t>
            </a:r>
            <a:endParaRPr lang="fr-FR" dirty="0"/>
          </a:p>
        </p:txBody>
      </p:sp>
      <p:sp>
        <p:nvSpPr>
          <p:cNvPr id="4" name="Espace réservé du numéro de diapositive 3"/>
          <p:cNvSpPr>
            <a:spLocks noGrp="1"/>
          </p:cNvSpPr>
          <p:nvPr>
            <p:ph type="sldNum" sz="quarter" idx="10"/>
          </p:nvPr>
        </p:nvSpPr>
        <p:spPr/>
        <p:txBody>
          <a:bodyPr/>
          <a:lstStyle/>
          <a:p>
            <a:fld id="{FD338FC2-BBDD-4B3C-BCE5-442F28365FA6}" type="slidenum">
              <a:rPr lang="fr-FR" smtClean="0"/>
              <a:t>3</a:t>
            </a:fld>
            <a:endParaRPr lang="fr-FR"/>
          </a:p>
        </p:txBody>
      </p:sp>
    </p:spTree>
    <p:extLst>
      <p:ext uri="{BB962C8B-B14F-4D97-AF65-F5344CB8AC3E}">
        <p14:creationId xmlns:p14="http://schemas.microsoft.com/office/powerpoint/2010/main" val="29880004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L’Éducation Physique et Sportive participe au développement global de l’élève. Parmi les activités enseignées, le saut en longueur occupe une place importante en athlétisme. Cependant, les filles du second cycle du Lycée Moderne Alphonse </a:t>
            </a:r>
            <a:r>
              <a:rPr lang="fr-FR" dirty="0" err="1" smtClean="0"/>
              <a:t>Assamoi</a:t>
            </a:r>
            <a:r>
              <a:rPr lang="fr-FR" dirty="0" smtClean="0"/>
              <a:t> de Divo manifestent un désintérêt pour cette activité. Cette étude vise donc à analyser les causes de cette situation et à proposer des solutions adaptées.</a:t>
            </a:r>
            <a:endParaRPr lang="fr-FR" dirty="0"/>
          </a:p>
        </p:txBody>
      </p:sp>
      <p:sp>
        <p:nvSpPr>
          <p:cNvPr id="4" name="Espace réservé du numéro de diapositive 3"/>
          <p:cNvSpPr>
            <a:spLocks noGrp="1"/>
          </p:cNvSpPr>
          <p:nvPr>
            <p:ph type="sldNum" sz="quarter" idx="10"/>
          </p:nvPr>
        </p:nvSpPr>
        <p:spPr/>
        <p:txBody>
          <a:bodyPr/>
          <a:lstStyle/>
          <a:p>
            <a:fld id="{FD338FC2-BBDD-4B3C-BCE5-442F28365FA6}" type="slidenum">
              <a:rPr lang="fr-FR" smtClean="0"/>
              <a:t>5</a:t>
            </a:fld>
            <a:endParaRPr lang="fr-FR"/>
          </a:p>
        </p:txBody>
      </p:sp>
    </p:spTree>
    <p:extLst>
      <p:ext uri="{BB962C8B-B14F-4D97-AF65-F5344CB8AC3E}">
        <p14:creationId xmlns:p14="http://schemas.microsoft.com/office/powerpoint/2010/main" val="37581615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dirty="0" smtClean="0"/>
              <a:t>Le Lycée Moderne Alphonse </a:t>
            </a:r>
            <a:r>
              <a:rPr lang="fr-FR" sz="1200" dirty="0" err="1" smtClean="0"/>
              <a:t>Assamoi</a:t>
            </a:r>
            <a:r>
              <a:rPr lang="fr-FR" sz="1200" dirty="0" smtClean="0"/>
              <a:t> de Divo est situé </a:t>
            </a:r>
            <a:r>
              <a:rPr lang="fr-FR" sz="1200" dirty="0" smtClean="0"/>
              <a:t>dans </a:t>
            </a:r>
            <a:r>
              <a:rPr lang="fr-FR" sz="1200" dirty="0" smtClean="0"/>
              <a:t>la région du </a:t>
            </a:r>
            <a:r>
              <a:rPr lang="fr-FR" sz="1200" dirty="0" err="1" smtClean="0"/>
              <a:t>Lôh-Djiboua</a:t>
            </a:r>
            <a:r>
              <a:rPr lang="fr-FR" sz="1200" dirty="0" smtClean="0"/>
              <a:t>, au sud de la Côte d’ivoire. La ville de Divo se trouve à environ 190 kilomètres d’Abidjan, capitale économique du pays, et est accessible par un axe routier principal facilitant les déplacements. Elle est entourée de plusieurs localités importantes, notamment </a:t>
            </a:r>
            <a:r>
              <a:rPr lang="fr-FR" sz="1200" dirty="0" err="1" smtClean="0"/>
              <a:t>Lakota</a:t>
            </a:r>
            <a:r>
              <a:rPr lang="fr-FR" sz="1200" dirty="0" smtClean="0"/>
              <a:t> à l’ouest, Guitry au sud-ouest, </a:t>
            </a:r>
            <a:r>
              <a:rPr lang="fr-FR" sz="1200" dirty="0" err="1" smtClean="0"/>
              <a:t>Oumé</a:t>
            </a:r>
            <a:r>
              <a:rPr lang="fr-FR" sz="1200" dirty="0" smtClean="0"/>
              <a:t> au nord et </a:t>
            </a:r>
            <a:r>
              <a:rPr lang="fr-FR" sz="1200" dirty="0" err="1" smtClean="0"/>
              <a:t>Hiré</a:t>
            </a:r>
            <a:r>
              <a:rPr lang="fr-FR" sz="1200" dirty="0" smtClean="0"/>
              <a:t> au nord-est. Cette position géographique confère à cet établissement un rôle de pôle éducatif majeur, accueillant des élèves issus de diverses localités environnantes.</a:t>
            </a:r>
          </a:p>
          <a:p>
            <a:r>
              <a:rPr lang="fr-FR" sz="1200" dirty="0" smtClean="0"/>
              <a:t>Après</a:t>
            </a:r>
            <a:r>
              <a:rPr lang="fr-FR" sz="1200" baseline="0" dirty="0" smtClean="0"/>
              <a:t> avoir présenter le cadre de notre stage, il convient à présent de mettre en lumière les objectifs de l’EPS.</a:t>
            </a:r>
            <a:endParaRPr lang="fr-FR" dirty="0"/>
          </a:p>
        </p:txBody>
      </p:sp>
      <p:sp>
        <p:nvSpPr>
          <p:cNvPr id="4" name="Espace réservé du numéro de diapositive 3"/>
          <p:cNvSpPr>
            <a:spLocks noGrp="1"/>
          </p:cNvSpPr>
          <p:nvPr>
            <p:ph type="sldNum" sz="quarter" idx="10"/>
          </p:nvPr>
        </p:nvSpPr>
        <p:spPr/>
        <p:txBody>
          <a:bodyPr/>
          <a:lstStyle/>
          <a:p>
            <a:fld id="{FD338FC2-BBDD-4B3C-BCE5-442F28365FA6}" type="slidenum">
              <a:rPr lang="fr-FR" smtClean="0"/>
              <a:t>6</a:t>
            </a:fld>
            <a:endParaRPr lang="fr-FR"/>
          </a:p>
        </p:txBody>
      </p:sp>
    </p:spTree>
    <p:extLst>
      <p:ext uri="{BB962C8B-B14F-4D97-AF65-F5344CB8AC3E}">
        <p14:creationId xmlns:p14="http://schemas.microsoft.com/office/powerpoint/2010/main" val="16072648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Nous allons à présent examiner les modalités de mise en œuvre de cette discipline au sein de l’établissement.</a:t>
            </a:r>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p:txBody>
      </p:sp>
      <p:sp>
        <p:nvSpPr>
          <p:cNvPr id="4" name="Espace réservé du numéro de diapositive 3"/>
          <p:cNvSpPr>
            <a:spLocks noGrp="1"/>
          </p:cNvSpPr>
          <p:nvPr>
            <p:ph type="sldNum" sz="quarter" idx="10"/>
          </p:nvPr>
        </p:nvSpPr>
        <p:spPr/>
        <p:txBody>
          <a:bodyPr/>
          <a:lstStyle/>
          <a:p>
            <a:fld id="{FD338FC2-BBDD-4B3C-BCE5-442F28365FA6}" type="slidenum">
              <a:rPr lang="fr-FR" smtClean="0"/>
              <a:t>7</a:t>
            </a:fld>
            <a:endParaRPr lang="fr-FR"/>
          </a:p>
        </p:txBody>
      </p:sp>
    </p:spTree>
    <p:extLst>
      <p:ext uri="{BB962C8B-B14F-4D97-AF65-F5344CB8AC3E}">
        <p14:creationId xmlns:p14="http://schemas.microsoft.com/office/powerpoint/2010/main" val="2528331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L’organisation des activités d’EPS au Lycée Moderne Alphonse </a:t>
            </a:r>
            <a:r>
              <a:rPr lang="fr-FR" dirty="0" err="1" smtClean="0"/>
              <a:t>Assamoi</a:t>
            </a:r>
            <a:r>
              <a:rPr lang="fr-FR" dirty="0" smtClean="0"/>
              <a:t> de Divo repose sur une planification adaptée aux réalités de l’établissement. Elle est mise en œuvre conformément aux programmes officiels du Ministère de l’Éducation Nationale et aux orientations pédagogiques de l’Inspection de l’EPS. Durant notre stage, nous avons participé à l’encadrement des élèves à travers plusieurs activités physiques et sportives. La gymnastique favorisait la coordination et la maîtrise corporelle, la vitesse développait la rapidité, tandis que le lancer de poids et le saut en longueur contribuaient au développement de la puissance et de la performance motrice.</a:t>
            </a:r>
          </a:p>
          <a:p>
            <a:r>
              <a:rPr lang="fr-FR" dirty="0" smtClean="0"/>
              <a:t>Dans l’ensemble, ces différentes activités visaient à assurer le développement physique, moteur et social des élèves à travers une participation active aux séances d’EPS.</a:t>
            </a:r>
          </a:p>
          <a:p>
            <a:r>
              <a:rPr lang="fr-FR" dirty="0" smtClean="0"/>
              <a:t>Cette</a:t>
            </a:r>
            <a:r>
              <a:rPr lang="fr-FR" baseline="0" dirty="0" smtClean="0"/>
              <a:t> expérience nous à permis de dresser un bilan global et réfléchir de notre stage.</a:t>
            </a:r>
            <a:endParaRPr lang="fr-FR" dirty="0"/>
          </a:p>
        </p:txBody>
      </p:sp>
      <p:sp>
        <p:nvSpPr>
          <p:cNvPr id="4" name="Espace réservé du numéro de diapositive 3"/>
          <p:cNvSpPr>
            <a:spLocks noGrp="1"/>
          </p:cNvSpPr>
          <p:nvPr>
            <p:ph type="sldNum" sz="quarter" idx="10"/>
          </p:nvPr>
        </p:nvSpPr>
        <p:spPr/>
        <p:txBody>
          <a:bodyPr/>
          <a:lstStyle/>
          <a:p>
            <a:fld id="{FD338FC2-BBDD-4B3C-BCE5-442F28365FA6}" type="slidenum">
              <a:rPr lang="fr-FR" smtClean="0"/>
              <a:t>8</a:t>
            </a:fld>
            <a:endParaRPr lang="fr-FR"/>
          </a:p>
        </p:txBody>
      </p:sp>
    </p:spTree>
    <p:extLst>
      <p:ext uri="{BB962C8B-B14F-4D97-AF65-F5344CB8AC3E}">
        <p14:creationId xmlns:p14="http://schemas.microsoft.com/office/powerpoint/2010/main" val="26018231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dirty="0" smtClean="0"/>
              <a:t>Notre bilan de stage se manifeste sur trois parties  (psychologue , matériel et pédagogique)</a:t>
            </a:r>
          </a:p>
          <a:p>
            <a:r>
              <a:rPr lang="fr-FR" sz="1200" dirty="0" smtClean="0"/>
              <a:t>Ce stage nous a permis de mieux comprendre les réalités de l’enseignement de l’EPS sur les plans psychologique, matériel et pédagogique. Il a également contribué au renforcement de nos compétences professionnelles à travers l’encadrement et l’observation des élèves en situation réelle d’apprentissage.</a:t>
            </a:r>
            <a:endParaRPr lang="fr-FR" sz="1200" dirty="0"/>
          </a:p>
        </p:txBody>
      </p:sp>
      <p:sp>
        <p:nvSpPr>
          <p:cNvPr id="4" name="Espace réservé du numéro de diapositive 3"/>
          <p:cNvSpPr>
            <a:spLocks noGrp="1"/>
          </p:cNvSpPr>
          <p:nvPr>
            <p:ph type="sldNum" sz="quarter" idx="10"/>
          </p:nvPr>
        </p:nvSpPr>
        <p:spPr/>
        <p:txBody>
          <a:bodyPr/>
          <a:lstStyle/>
          <a:p>
            <a:fld id="{FD338FC2-BBDD-4B3C-BCE5-442F28365FA6}" type="slidenum">
              <a:rPr lang="fr-FR" smtClean="0"/>
              <a:t>9</a:t>
            </a:fld>
            <a:endParaRPr lang="fr-FR"/>
          </a:p>
        </p:txBody>
      </p:sp>
    </p:spTree>
    <p:extLst>
      <p:ext uri="{BB962C8B-B14F-4D97-AF65-F5344CB8AC3E}">
        <p14:creationId xmlns:p14="http://schemas.microsoft.com/office/powerpoint/2010/main" val="5469627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smtClean="0"/>
              <a:t>L’Éducation Physique et Sportive contribue au développement physique, social et moral de l’élève. Parmi les activités pratiquées, le saut en longueur occupe une place importante en raison des compétences qu’il développe, notamment la vitesse, la coordination et la maîtrise du corps.</a:t>
            </a:r>
          </a:p>
          <a:p>
            <a:r>
              <a:rPr lang="fr-FR" dirty="0" smtClean="0"/>
              <a:t>Afin de favoriser la participation des filles, plusieurs actions ont été mises en place, telles que des rencontres scolaires, des démonstrations, la valorisation des performances d’athlètes féminines à travers les médias, ainsi que l’adaptation des méthodes pédagogiques par les enseignants d’EPS.</a:t>
            </a:r>
          </a:p>
          <a:p>
            <a:r>
              <a:rPr lang="fr-FR" dirty="0" smtClean="0"/>
              <a:t>Cependant, malgré tous ces efforts, nous constatons toujours un désintérêt des filles pour la pratique du saut en longueur.</a:t>
            </a:r>
          </a:p>
          <a:p>
            <a:r>
              <a:rPr lang="fr-FR" dirty="0" smtClean="0"/>
              <a:t>Cette situation nous conduit ainsi à formuler une question centrale de recherche ainsi que trois (3) questions subsidiaires afin de mieux comprendre les causes de ce désintérêt.</a:t>
            </a:r>
            <a:endParaRPr lang="fr-FR" dirty="0"/>
          </a:p>
        </p:txBody>
      </p:sp>
      <p:sp>
        <p:nvSpPr>
          <p:cNvPr id="4" name="Espace réservé du numéro de diapositive 3"/>
          <p:cNvSpPr>
            <a:spLocks noGrp="1"/>
          </p:cNvSpPr>
          <p:nvPr>
            <p:ph type="sldNum" sz="quarter" idx="10"/>
          </p:nvPr>
        </p:nvSpPr>
        <p:spPr/>
        <p:txBody>
          <a:bodyPr/>
          <a:lstStyle/>
          <a:p>
            <a:fld id="{FD338FC2-BBDD-4B3C-BCE5-442F28365FA6}" type="slidenum">
              <a:rPr lang="fr-FR" smtClean="0"/>
              <a:t>10</a:t>
            </a:fld>
            <a:endParaRPr lang="fr-FR"/>
          </a:p>
        </p:txBody>
      </p:sp>
    </p:spTree>
    <p:extLst>
      <p:ext uri="{BB962C8B-B14F-4D97-AF65-F5344CB8AC3E}">
        <p14:creationId xmlns:p14="http://schemas.microsoft.com/office/powerpoint/2010/main" val="35744972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L'analyse de cette problématique a permis d'aboutir à des préconisations concrètes, structurées autour de trois parties : A court terme</a:t>
            </a:r>
            <a:r>
              <a:rPr lang="fr-FR" baseline="0" dirty="0" smtClean="0"/>
              <a:t> </a:t>
            </a:r>
            <a:r>
              <a:rPr lang="fr-FR" dirty="0" smtClean="0"/>
              <a:t>,</a:t>
            </a:r>
            <a:r>
              <a:rPr lang="fr-FR" baseline="0" dirty="0" smtClean="0"/>
              <a:t> moyen terme et long terme.</a:t>
            </a:r>
            <a:endParaRPr lang="fr-FR" dirty="0"/>
          </a:p>
        </p:txBody>
      </p:sp>
      <p:sp>
        <p:nvSpPr>
          <p:cNvPr id="4" name="Espace réservé du numéro de diapositive 3"/>
          <p:cNvSpPr>
            <a:spLocks noGrp="1"/>
          </p:cNvSpPr>
          <p:nvPr>
            <p:ph type="sldNum" sz="quarter" idx="10"/>
          </p:nvPr>
        </p:nvSpPr>
        <p:spPr/>
        <p:txBody>
          <a:bodyPr/>
          <a:lstStyle/>
          <a:p>
            <a:fld id="{FD338FC2-BBDD-4B3C-BCE5-442F28365FA6}" type="slidenum">
              <a:rPr lang="fr-FR" smtClean="0"/>
              <a:t>11</a:t>
            </a:fld>
            <a:endParaRPr lang="fr-FR"/>
          </a:p>
        </p:txBody>
      </p:sp>
    </p:spTree>
    <p:extLst>
      <p:ext uri="{BB962C8B-B14F-4D97-AF65-F5344CB8AC3E}">
        <p14:creationId xmlns:p14="http://schemas.microsoft.com/office/powerpoint/2010/main" val="4460088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Ces différentes préconisations visent à agir progressivement sur les facteurs psychologiques, matériels et pédagogiques à l’origine du désintérêt des filles pour le saut en longueur. Leur mise en application pourrait favoriser une meilleure motivation, une participation plus active et un engagement durable des filles dans la pratique des activités d’EPS.</a:t>
            </a:r>
          </a:p>
          <a:p>
            <a:r>
              <a:rPr lang="fr-FR" dirty="0" smtClean="0"/>
              <a:t>Avant </a:t>
            </a:r>
            <a:r>
              <a:rPr lang="fr-FR" dirty="0" smtClean="0"/>
              <a:t>de clore notre travail, il convient de présenter les principaux résultats tirés de cette étude</a:t>
            </a:r>
            <a:r>
              <a:rPr lang="fr-FR" baseline="0" dirty="0" smtClean="0"/>
              <a:t> dont nous parlerons de la conclusion générale.</a:t>
            </a:r>
            <a:endParaRPr lang="fr-FR" dirty="0"/>
          </a:p>
        </p:txBody>
      </p:sp>
      <p:sp>
        <p:nvSpPr>
          <p:cNvPr id="4" name="Espace réservé du numéro de diapositive 3"/>
          <p:cNvSpPr>
            <a:spLocks noGrp="1"/>
          </p:cNvSpPr>
          <p:nvPr>
            <p:ph type="sldNum" sz="quarter" idx="10"/>
          </p:nvPr>
        </p:nvSpPr>
        <p:spPr/>
        <p:txBody>
          <a:bodyPr/>
          <a:lstStyle/>
          <a:p>
            <a:fld id="{FD338FC2-BBDD-4B3C-BCE5-442F28365FA6}" type="slidenum">
              <a:rPr lang="fr-FR" smtClean="0"/>
              <a:t>12</a:t>
            </a:fld>
            <a:endParaRPr lang="fr-FR"/>
          </a:p>
        </p:txBody>
      </p:sp>
    </p:spTree>
    <p:extLst>
      <p:ext uri="{BB962C8B-B14F-4D97-AF65-F5344CB8AC3E}">
        <p14:creationId xmlns:p14="http://schemas.microsoft.com/office/powerpoint/2010/main" val="17548258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FD338FC2-BBDD-4B3C-BCE5-442F28365FA6}" type="slidenum">
              <a:rPr lang="fr-FR" smtClean="0"/>
              <a:t>14</a:t>
            </a:fld>
            <a:endParaRPr lang="fr-FR"/>
          </a:p>
        </p:txBody>
      </p:sp>
    </p:spTree>
    <p:extLst>
      <p:ext uri="{BB962C8B-B14F-4D97-AF65-F5344CB8AC3E}">
        <p14:creationId xmlns:p14="http://schemas.microsoft.com/office/powerpoint/2010/main" val="35252383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smtClean="0"/>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77B0A55B-9C8A-354F-9280-E416C0853448}" type="datetimeFigureOut">
              <a:rPr lang="fr-FR" smtClean="0"/>
              <a:pPr/>
              <a:t>12/05/2026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7BA7199-79FD-0740-AFCC-CF698668DA58}" type="slidenum">
              <a:rPr lang="fr-FR" smtClean="0"/>
              <a:pPr/>
              <a:t>‹N°›</a:t>
            </a:fld>
            <a:endParaRPr lang="fr-FR"/>
          </a:p>
        </p:txBody>
      </p:sp>
    </p:spTree>
    <p:extLst>
      <p:ext uri="{BB962C8B-B14F-4D97-AF65-F5344CB8AC3E}">
        <p14:creationId xmlns:p14="http://schemas.microsoft.com/office/powerpoint/2010/main" val="3151503156"/>
      </p:ext>
    </p:extLst>
  </p:cSld>
  <p:clrMapOvr>
    <a:masterClrMapping/>
  </p:clrMapOvr>
  <p:transition spd="slow">
    <p:randomBar dir="vert"/>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77B0A55B-9C8A-354F-9280-E416C0853448}" type="datetimeFigureOut">
              <a:rPr lang="fr-FR" smtClean="0"/>
              <a:pPr/>
              <a:t>12/05/2026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7BA7199-79FD-0740-AFCC-CF698668DA58}" type="slidenum">
              <a:rPr lang="fr-FR" smtClean="0"/>
              <a:pPr/>
              <a:t>‹N°›</a:t>
            </a:fld>
            <a:endParaRPr lang="fr-FR"/>
          </a:p>
        </p:txBody>
      </p:sp>
    </p:spTree>
    <p:extLst>
      <p:ext uri="{BB962C8B-B14F-4D97-AF65-F5344CB8AC3E}">
        <p14:creationId xmlns:p14="http://schemas.microsoft.com/office/powerpoint/2010/main" val="660836871"/>
      </p:ext>
    </p:extLst>
  </p:cSld>
  <p:clrMapOvr>
    <a:masterClrMapping/>
  </p:clrMapOvr>
  <p:transition spd="slow">
    <p:randomBar dir="vert"/>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smtClean="0"/>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77B0A55B-9C8A-354F-9280-E416C0853448}" type="datetimeFigureOut">
              <a:rPr lang="fr-FR" smtClean="0"/>
              <a:pPr/>
              <a:t>12/05/2026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7BA7199-79FD-0740-AFCC-CF698668DA58}" type="slidenum">
              <a:rPr lang="fr-FR" smtClean="0"/>
              <a:pPr/>
              <a:t>‹N°›</a:t>
            </a:fld>
            <a:endParaRPr lang="fr-FR"/>
          </a:p>
        </p:txBody>
      </p:sp>
    </p:spTree>
    <p:extLst>
      <p:ext uri="{BB962C8B-B14F-4D97-AF65-F5344CB8AC3E}">
        <p14:creationId xmlns:p14="http://schemas.microsoft.com/office/powerpoint/2010/main" val="1101299355"/>
      </p:ext>
    </p:extLst>
  </p:cSld>
  <p:clrMapOvr>
    <a:masterClrMapping/>
  </p:clrMapOvr>
  <p:transition spd="slow">
    <p:randomBar dir="vert"/>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77B0A55B-9C8A-354F-9280-E416C0853448}" type="datetimeFigureOut">
              <a:rPr lang="fr-FR" smtClean="0"/>
              <a:pPr/>
              <a:t>12/05/2026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7BA7199-79FD-0740-AFCC-CF698668DA58}" type="slidenum">
              <a:rPr lang="fr-FR" smtClean="0"/>
              <a:pPr/>
              <a:t>‹N°›</a:t>
            </a:fld>
            <a:endParaRPr lang="fr-FR"/>
          </a:p>
        </p:txBody>
      </p:sp>
    </p:spTree>
    <p:extLst>
      <p:ext uri="{BB962C8B-B14F-4D97-AF65-F5344CB8AC3E}">
        <p14:creationId xmlns:p14="http://schemas.microsoft.com/office/powerpoint/2010/main" val="1987981456"/>
      </p:ext>
    </p:extLst>
  </p:cSld>
  <p:clrMapOvr>
    <a:masterClrMapping/>
  </p:clrMapOvr>
  <p:transition spd="slow">
    <p:randomBar dir="vert"/>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smtClean="0"/>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77B0A55B-9C8A-354F-9280-E416C0853448}" type="datetimeFigureOut">
              <a:rPr lang="fr-FR" smtClean="0"/>
              <a:pPr/>
              <a:t>12/05/2026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57BA7199-79FD-0740-AFCC-CF698668DA58}" type="slidenum">
              <a:rPr lang="fr-FR" smtClean="0"/>
              <a:pPr/>
              <a:t>‹N°›</a:t>
            </a:fld>
            <a:endParaRPr lang="fr-FR"/>
          </a:p>
        </p:txBody>
      </p:sp>
    </p:spTree>
    <p:extLst>
      <p:ext uri="{BB962C8B-B14F-4D97-AF65-F5344CB8AC3E}">
        <p14:creationId xmlns:p14="http://schemas.microsoft.com/office/powerpoint/2010/main" val="798253559"/>
      </p:ext>
    </p:extLst>
  </p:cSld>
  <p:clrMapOvr>
    <a:masterClrMapping/>
  </p:clrMapOvr>
  <p:transition spd="slow">
    <p:randomBar dir="vert"/>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77B0A55B-9C8A-354F-9280-E416C0853448}" type="datetimeFigureOut">
              <a:rPr lang="fr-FR" smtClean="0"/>
              <a:pPr/>
              <a:t>12/05/2026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57BA7199-79FD-0740-AFCC-CF698668DA58}" type="slidenum">
              <a:rPr lang="fr-FR" smtClean="0"/>
              <a:pPr/>
              <a:t>‹N°›</a:t>
            </a:fld>
            <a:endParaRPr lang="fr-FR"/>
          </a:p>
        </p:txBody>
      </p:sp>
    </p:spTree>
    <p:extLst>
      <p:ext uri="{BB962C8B-B14F-4D97-AF65-F5344CB8AC3E}">
        <p14:creationId xmlns:p14="http://schemas.microsoft.com/office/powerpoint/2010/main" val="3021075364"/>
      </p:ext>
    </p:extLst>
  </p:cSld>
  <p:clrMapOvr>
    <a:masterClrMapping/>
  </p:clrMapOvr>
  <p:transition spd="slow">
    <p:randomBar dir="vert"/>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B0A55B-9C8A-354F-9280-E416C0853448}" type="datetimeFigureOut">
              <a:rPr lang="fr-FR" smtClean="0"/>
              <a:pPr/>
              <a:t>12/05/2026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57BA7199-79FD-0740-AFCC-CF698668DA58}" type="slidenum">
              <a:rPr lang="fr-FR" smtClean="0"/>
              <a:pPr/>
              <a:t>‹N°›</a:t>
            </a:fld>
            <a:endParaRPr lang="fr-FR"/>
          </a:p>
        </p:txBody>
      </p:sp>
    </p:spTree>
    <p:extLst>
      <p:ext uri="{BB962C8B-B14F-4D97-AF65-F5344CB8AC3E}">
        <p14:creationId xmlns:p14="http://schemas.microsoft.com/office/powerpoint/2010/main" val="1815187945"/>
      </p:ext>
    </p:extLst>
  </p:cSld>
  <p:clrMapOvr>
    <a:masterClrMapping/>
  </p:clrMapOvr>
  <p:transition spd="slow">
    <p:randomBar dir="vert"/>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smtClean="0"/>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77B0A55B-9C8A-354F-9280-E416C0853448}" type="datetimeFigureOut">
              <a:rPr lang="fr-FR" smtClean="0"/>
              <a:pPr/>
              <a:t>12/05/2026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7BA7199-79FD-0740-AFCC-CF698668DA58}" type="slidenum">
              <a:rPr lang="fr-FR" smtClean="0"/>
              <a:pPr/>
              <a:t>‹N°›</a:t>
            </a:fld>
            <a:endParaRPr lang="fr-FR"/>
          </a:p>
        </p:txBody>
      </p:sp>
    </p:spTree>
    <p:extLst>
      <p:ext uri="{BB962C8B-B14F-4D97-AF65-F5344CB8AC3E}">
        <p14:creationId xmlns:p14="http://schemas.microsoft.com/office/powerpoint/2010/main" val="122246959"/>
      </p:ext>
    </p:extLst>
  </p:cSld>
  <p:clrMapOvr>
    <a:masterClrMapping/>
  </p:clrMapOvr>
  <p:transition spd="slow">
    <p:randomBar dir="vert"/>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7BA7199-79FD-0740-AFCC-CF698668DA58}" type="slidenum">
              <a:rPr lang="fr-FR" smtClean="0"/>
              <a:pPr/>
              <a:t>‹N°›</a:t>
            </a:fld>
            <a:endParaRPr lang="fr-FR"/>
          </a:p>
        </p:txBody>
      </p:sp>
      <p:sp>
        <p:nvSpPr>
          <p:cNvPr id="5" name="Date Placeholder 4"/>
          <p:cNvSpPr>
            <a:spLocks noGrp="1"/>
          </p:cNvSpPr>
          <p:nvPr>
            <p:ph type="dt" sz="half" idx="10"/>
          </p:nvPr>
        </p:nvSpPr>
        <p:spPr/>
        <p:txBody>
          <a:bodyPr/>
          <a:lstStyle/>
          <a:p>
            <a:fld id="{77B0A55B-9C8A-354F-9280-E416C0853448}" type="datetimeFigureOut">
              <a:rPr lang="fr-FR" smtClean="0"/>
              <a:pPr/>
              <a:t>12/05/2026</a:t>
            </a:fld>
            <a:endParaRPr lang="fr-FR"/>
          </a:p>
        </p:txBody>
      </p:sp>
    </p:spTree>
    <p:extLst>
      <p:ext uri="{BB962C8B-B14F-4D97-AF65-F5344CB8AC3E}">
        <p14:creationId xmlns:p14="http://schemas.microsoft.com/office/powerpoint/2010/main" val="2032230331"/>
      </p:ext>
    </p:extLst>
  </p:cSld>
  <p:clrMapOvr>
    <a:masterClrMapping/>
  </p:clrMapOvr>
  <p:transition spd="slow">
    <p:randomBar dir="vert"/>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smtClean="0"/>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77B0A55B-9C8A-354F-9280-E416C0853448}" type="datetimeFigureOut">
              <a:rPr lang="fr-FR" smtClean="0"/>
              <a:pPr/>
              <a:t>12/05/2026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7BA7199-79FD-0740-AFCC-CF698668DA58}" type="slidenum">
              <a:rPr lang="fr-FR" smtClean="0"/>
              <a:pPr/>
              <a:t>‹N°›</a:t>
            </a:fld>
            <a:endParaRPr lang="fr-FR"/>
          </a:p>
        </p:txBody>
      </p:sp>
    </p:spTree>
    <p:extLst>
      <p:ext uri="{BB962C8B-B14F-4D97-AF65-F5344CB8AC3E}">
        <p14:creationId xmlns:p14="http://schemas.microsoft.com/office/powerpoint/2010/main" val="335516723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smtClean="0"/>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Modifier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77B0A55B-9C8A-354F-9280-E416C0853448}" type="datetimeFigureOut">
              <a:rPr lang="fr-FR" smtClean="0"/>
              <a:pPr/>
              <a:t>12/05/2026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7BA7199-79FD-0740-AFCC-CF698668DA58}" type="slidenum">
              <a:rPr lang="fr-FR" smtClean="0"/>
              <a:pPr/>
              <a:t>‹N°›</a:t>
            </a:fld>
            <a:endParaRPr lang="fr-F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34819231"/>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smtClean="0"/>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77B0A55B-9C8A-354F-9280-E416C0853448}" type="datetimeFigureOut">
              <a:rPr lang="fr-FR" smtClean="0"/>
              <a:pPr/>
              <a:t>12/05/2026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7BA7199-79FD-0740-AFCC-CF698668DA58}" type="slidenum">
              <a:rPr lang="fr-FR" smtClean="0"/>
              <a:pPr/>
              <a:t>‹N°›</a:t>
            </a:fld>
            <a:endParaRPr lang="fr-FR"/>
          </a:p>
        </p:txBody>
      </p:sp>
    </p:spTree>
    <p:extLst>
      <p:ext uri="{BB962C8B-B14F-4D97-AF65-F5344CB8AC3E}">
        <p14:creationId xmlns:p14="http://schemas.microsoft.com/office/powerpoint/2010/main" val="210200567"/>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smtClean="0"/>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77B0A55B-9C8A-354F-9280-E416C0853448}" type="datetimeFigureOut">
              <a:rPr lang="fr-FR" smtClean="0"/>
              <a:pPr/>
              <a:t>12/05/2026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7BA7199-79FD-0740-AFCC-CF698668DA58}" type="slidenum">
              <a:rPr lang="fr-FR" smtClean="0"/>
              <a:pPr/>
              <a:t>‹N°›</a:t>
            </a:fld>
            <a:endParaRPr lang="fr-F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98253139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smtClean="0"/>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77B0A55B-9C8A-354F-9280-E416C0853448}" type="datetimeFigureOut">
              <a:rPr lang="fr-FR" smtClean="0"/>
              <a:pPr/>
              <a:t>12/05/2026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7BA7199-79FD-0740-AFCC-CF698668DA58}" type="slidenum">
              <a:rPr lang="fr-FR" smtClean="0"/>
              <a:pPr/>
              <a:t>‹N°›</a:t>
            </a:fld>
            <a:endParaRPr lang="fr-FR"/>
          </a:p>
        </p:txBody>
      </p:sp>
    </p:spTree>
    <p:extLst>
      <p:ext uri="{BB962C8B-B14F-4D97-AF65-F5344CB8AC3E}">
        <p14:creationId xmlns:p14="http://schemas.microsoft.com/office/powerpoint/2010/main" val="2026589754"/>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77B0A55B-9C8A-354F-9280-E416C0853448}" type="datetimeFigureOut">
              <a:rPr lang="fr-FR" smtClean="0"/>
              <a:pPr/>
              <a:t>12/05/2026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7BA7199-79FD-0740-AFCC-CF698668DA58}" type="slidenum">
              <a:rPr lang="fr-FR" smtClean="0"/>
              <a:pPr/>
              <a:t>‹N°›</a:t>
            </a:fld>
            <a:endParaRPr lang="fr-FR"/>
          </a:p>
        </p:txBody>
      </p:sp>
    </p:spTree>
    <p:extLst>
      <p:ext uri="{BB962C8B-B14F-4D97-AF65-F5344CB8AC3E}">
        <p14:creationId xmlns:p14="http://schemas.microsoft.com/office/powerpoint/2010/main" val="2727395010"/>
      </p:ext>
    </p:extLst>
  </p:cSld>
  <p:clrMapOvr>
    <a:masterClrMapping/>
  </p:clrMapOvr>
  <p:transition spd="slow">
    <p:randomBar dir="vert"/>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smtClean="0"/>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77B0A55B-9C8A-354F-9280-E416C0853448}" type="datetimeFigureOut">
              <a:rPr lang="fr-FR" smtClean="0"/>
              <a:pPr/>
              <a:t>12/05/2026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7BA7199-79FD-0740-AFCC-CF698668DA58}" type="slidenum">
              <a:rPr lang="fr-FR" smtClean="0"/>
              <a:pPr/>
              <a:t>‹N°›</a:t>
            </a:fld>
            <a:endParaRPr lang="fr-FR"/>
          </a:p>
        </p:txBody>
      </p:sp>
    </p:spTree>
    <p:extLst>
      <p:ext uri="{BB962C8B-B14F-4D97-AF65-F5344CB8AC3E}">
        <p14:creationId xmlns:p14="http://schemas.microsoft.com/office/powerpoint/2010/main" val="3807416216"/>
      </p:ext>
    </p:extLst>
  </p:cSld>
  <p:clrMapOvr>
    <a:masterClrMapping/>
  </p:clrMapOvr>
  <p:transition spd="slow">
    <p:randomBar dir="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smtClean="0"/>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7B0A55B-9C8A-354F-9280-E416C0853448}" type="datetimeFigureOut">
              <a:rPr lang="fr-FR" smtClean="0"/>
              <a:pPr/>
              <a:t>12/05/2026</a:t>
            </a:fld>
            <a:endParaRPr lang="fr-F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7BA7199-79FD-0740-AFCC-CF698668DA58}" type="slidenum">
              <a:rPr lang="fr-FR" smtClean="0"/>
              <a:pPr/>
              <a:t>‹N°›</a:t>
            </a:fld>
            <a:endParaRPr lang="fr-FR"/>
          </a:p>
        </p:txBody>
      </p:sp>
    </p:spTree>
    <p:extLst>
      <p:ext uri="{BB962C8B-B14F-4D97-AF65-F5344CB8AC3E}">
        <p14:creationId xmlns:p14="http://schemas.microsoft.com/office/powerpoint/2010/main" val="357022654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ransition spd="slow">
    <p:randomBar dir="vert"/>
  </p:transition>
  <p:timing>
    <p:tnLst>
      <p:par>
        <p:cTn id="1" dur="indefinite" restart="never" nodeType="tmRoot"/>
      </p:par>
    </p:tnLst>
  </p:timing>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an vers le haut 3"/>
          <p:cNvSpPr/>
          <p:nvPr/>
        </p:nvSpPr>
        <p:spPr>
          <a:xfrm>
            <a:off x="209550" y="933450"/>
            <a:ext cx="11734800" cy="5391150"/>
          </a:xfrm>
          <a:prstGeom prst="ribbon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fr-FR" sz="2800" dirty="0">
                <a:latin typeface="Times New Roman" panose="02020603050405020304" pitchFamily="18" charset="0"/>
                <a:cs typeface="Times New Roman" panose="02020603050405020304" pitchFamily="18" charset="0"/>
              </a:rPr>
              <a:t>BIENVENUE A LA SOUTENENCE DU MEMOIRE DE MASTER EN SCIENCES ET TECHNIQUES DES ACTIVITES PHYSIQUES ET SPORTIVES </a:t>
            </a:r>
            <a:endParaRPr lang="fr-CI"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2472994"/>
      </p:ext>
    </p:extLst>
  </p:cSld>
  <p:clrMapOvr>
    <a:masterClrMapping/>
  </p:clrMapOvr>
  <p:transition spd="slow">
    <p:randomBar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3"/>
          <a:stretch>
            <a:fillRect/>
          </a:stretch>
        </p:blipFill>
        <p:spPr>
          <a:xfrm>
            <a:off x="267280" y="565005"/>
            <a:ext cx="2982353" cy="1243417"/>
          </a:xfrm>
          <a:prstGeom prst="rect">
            <a:avLst/>
          </a:prstGeom>
        </p:spPr>
      </p:pic>
      <p:pic>
        <p:nvPicPr>
          <p:cNvPr id="5" name="Image 4"/>
          <p:cNvPicPr>
            <a:picLocks noChangeAspect="1"/>
          </p:cNvPicPr>
          <p:nvPr/>
        </p:nvPicPr>
        <p:blipFill>
          <a:blip r:embed="rId4"/>
          <a:stretch>
            <a:fillRect/>
          </a:stretch>
        </p:blipFill>
        <p:spPr>
          <a:xfrm>
            <a:off x="8007543" y="565005"/>
            <a:ext cx="2786134" cy="1347090"/>
          </a:xfrm>
          <a:prstGeom prst="rect">
            <a:avLst/>
          </a:prstGeom>
        </p:spPr>
      </p:pic>
      <p:sp>
        <p:nvSpPr>
          <p:cNvPr id="6" name="Rectangle 5"/>
          <p:cNvSpPr/>
          <p:nvPr/>
        </p:nvSpPr>
        <p:spPr>
          <a:xfrm>
            <a:off x="7750517" y="178982"/>
            <a:ext cx="4539013" cy="307777"/>
          </a:xfrm>
          <a:prstGeom prst="rect">
            <a:avLst/>
          </a:prstGeom>
        </p:spPr>
        <p:txBody>
          <a:bodyPr wrap="square">
            <a:spAutoFit/>
          </a:bodyPr>
          <a:lstStyle/>
          <a:p>
            <a:r>
              <a:rPr lang="fr-FR" sz="1400" dirty="0">
                <a:latin typeface="Times New Roman" panose="02020603050405020304" pitchFamily="18" charset="0"/>
                <a:cs typeface="Times New Roman" panose="02020603050405020304" pitchFamily="18" charset="0"/>
              </a:rPr>
              <a:t>Institut National de la Jeunesse et des Sports</a:t>
            </a:r>
          </a:p>
        </p:txBody>
      </p:sp>
      <p:sp>
        <p:nvSpPr>
          <p:cNvPr id="7" name="Rectangle 6"/>
          <p:cNvSpPr/>
          <p:nvPr/>
        </p:nvSpPr>
        <p:spPr>
          <a:xfrm>
            <a:off x="464228" y="178983"/>
            <a:ext cx="2785405" cy="307777"/>
          </a:xfrm>
          <a:prstGeom prst="rect">
            <a:avLst/>
          </a:prstGeom>
        </p:spPr>
        <p:txBody>
          <a:bodyPr wrap="square">
            <a:spAutoFit/>
          </a:bodyPr>
          <a:lstStyle/>
          <a:p>
            <a:r>
              <a:rPr lang="fr-FR" sz="1400" dirty="0">
                <a:latin typeface="Times New Roman" panose="02020603050405020304" pitchFamily="18" charset="0"/>
                <a:cs typeface="Times New Roman" panose="02020603050405020304" pitchFamily="18" charset="0"/>
              </a:rPr>
              <a:t>Université FHB Abidjan-</a:t>
            </a:r>
            <a:r>
              <a:rPr lang="fr-FR" sz="1400" dirty="0" err="1">
                <a:latin typeface="Times New Roman" panose="02020603050405020304" pitchFamily="18" charset="0"/>
                <a:cs typeface="Times New Roman" panose="02020603050405020304" pitchFamily="18" charset="0"/>
              </a:rPr>
              <a:t>Cocody</a:t>
            </a:r>
            <a:endParaRPr lang="fr-FR" sz="1400" dirty="0">
              <a:latin typeface="Times New Roman" panose="02020603050405020304" pitchFamily="18" charset="0"/>
              <a:cs typeface="Times New Roman" panose="02020603050405020304" pitchFamily="18" charset="0"/>
            </a:endParaRPr>
          </a:p>
        </p:txBody>
      </p:sp>
      <p:sp>
        <p:nvSpPr>
          <p:cNvPr id="8" name="Rectangle 7"/>
          <p:cNvSpPr/>
          <p:nvPr/>
        </p:nvSpPr>
        <p:spPr>
          <a:xfrm>
            <a:off x="464228" y="2261937"/>
            <a:ext cx="11443753" cy="2044779"/>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fr-FR" sz="2800" b="1" dirty="0"/>
              <a:t>DESINTERET DES FILLES DU SECOND CYCLE PENDANT LE SAUT ENLONGUEUR AU LYCEE MODERNE ALPHONSE ASSAMOI DE DIVO</a:t>
            </a:r>
          </a:p>
        </p:txBody>
      </p:sp>
      <p:sp>
        <p:nvSpPr>
          <p:cNvPr id="12" name="Rectangle : coins arrondis 11">
            <a:extLst>
              <a:ext uri="{FF2B5EF4-FFF2-40B4-BE49-F238E27FC236}">
                <a16:creationId xmlns:a16="http://schemas.microsoft.com/office/drawing/2014/main" id="{4FF4625E-8820-4E9B-852B-15D56796B870}"/>
              </a:ext>
            </a:extLst>
          </p:cNvPr>
          <p:cNvSpPr/>
          <p:nvPr/>
        </p:nvSpPr>
        <p:spPr>
          <a:xfrm>
            <a:off x="2918071" y="4603748"/>
            <a:ext cx="5596543" cy="831273"/>
          </a:xfrm>
          <a:prstGeom prst="round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b="1" dirty="0">
              <a:solidFill>
                <a:schemeClr val="tx1"/>
              </a:solidFill>
              <a:latin typeface="Arial" panose="020B0604020202020204" pitchFamily="34" charset="0"/>
              <a:cs typeface="Arial" panose="020B0604020202020204" pitchFamily="34" charset="0"/>
            </a:endParaRPr>
          </a:p>
          <a:p>
            <a:pPr algn="ctr"/>
            <a:r>
              <a:rPr lang="fr-FR" sz="2000" b="1" dirty="0">
                <a:solidFill>
                  <a:schemeClr val="tx1"/>
                </a:solidFill>
                <a:latin typeface="Arial" panose="020B0604020202020204" pitchFamily="34" charset="0"/>
                <a:cs typeface="Arial" panose="020B0604020202020204" pitchFamily="34" charset="0"/>
              </a:rPr>
              <a:t>Présenté par: </a:t>
            </a:r>
            <a:r>
              <a:rPr lang="fr-FR" sz="2000" b="1" dirty="0" smtClean="0">
                <a:solidFill>
                  <a:schemeClr val="tx1"/>
                </a:solidFill>
                <a:latin typeface="Arial" panose="020B0604020202020204" pitchFamily="34" charset="0"/>
                <a:cs typeface="Arial" panose="020B0604020202020204" pitchFamily="34" charset="0"/>
              </a:rPr>
              <a:t>DESSO MEKO</a:t>
            </a:r>
            <a:endParaRPr lang="fr-FR" sz="2000" b="1" dirty="0">
              <a:solidFill>
                <a:schemeClr val="tx1"/>
              </a:solidFill>
              <a:latin typeface="Arial" panose="020B0604020202020204" pitchFamily="34" charset="0"/>
              <a:cs typeface="Arial" panose="020B0604020202020204" pitchFamily="34" charset="0"/>
            </a:endParaRPr>
          </a:p>
          <a:p>
            <a:pPr algn="ctr"/>
            <a:endParaRPr lang="fr-FR" sz="2000" b="1" dirty="0">
              <a:solidFill>
                <a:schemeClr val="tx1"/>
              </a:solidFill>
              <a:latin typeface="Arial" panose="020B0604020202020204" pitchFamily="34" charset="0"/>
              <a:cs typeface="Arial" panose="020B0604020202020204" pitchFamily="34" charset="0"/>
            </a:endParaRPr>
          </a:p>
        </p:txBody>
      </p:sp>
      <p:sp>
        <p:nvSpPr>
          <p:cNvPr id="13" name="Rectangle : coins arrondis 12">
            <a:extLst>
              <a:ext uri="{FF2B5EF4-FFF2-40B4-BE49-F238E27FC236}">
                <a16:creationId xmlns:a16="http://schemas.microsoft.com/office/drawing/2014/main" id="{4CAC9672-195E-47E4-B955-24F26B5E655B}"/>
              </a:ext>
            </a:extLst>
          </p:cNvPr>
          <p:cNvSpPr/>
          <p:nvPr/>
        </p:nvSpPr>
        <p:spPr>
          <a:xfrm>
            <a:off x="2918072" y="5732053"/>
            <a:ext cx="5886944" cy="943384"/>
          </a:xfrm>
          <a:prstGeom prst="roundRect">
            <a:avLst>
              <a:gd name="adj" fmla="val 10385"/>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tx1"/>
                </a:solidFill>
                <a:latin typeface="Arial" panose="020B0604020202020204" pitchFamily="34" charset="0"/>
                <a:cs typeface="Arial" panose="020B0604020202020204" pitchFamily="34" charset="0"/>
              </a:rPr>
              <a:t>Sous la Supervision de:</a:t>
            </a:r>
          </a:p>
          <a:p>
            <a:pPr algn="ctr"/>
            <a:r>
              <a:rPr lang="fr-FR" sz="2000" b="1" dirty="0">
                <a:solidFill>
                  <a:schemeClr val="tx1"/>
                </a:solidFill>
                <a:latin typeface="Arial" panose="020B0604020202020204" pitchFamily="34" charset="0"/>
                <a:cs typeface="Arial" panose="020B0604020202020204" pitchFamily="34" charset="0"/>
              </a:rPr>
              <a:t>  </a:t>
            </a:r>
            <a:r>
              <a:rPr lang="fr-FR" sz="2000" b="1" dirty="0" smtClean="0">
                <a:solidFill>
                  <a:schemeClr val="tx1"/>
                </a:solidFill>
                <a:latin typeface="Arial" panose="020B0604020202020204" pitchFamily="34" charset="0"/>
                <a:cs typeface="Arial" panose="020B0604020202020204" pitchFamily="34" charset="0"/>
              </a:rPr>
              <a:t>DR AMARA BAMBA</a:t>
            </a:r>
            <a:endParaRPr lang="fr-FR" sz="2000" b="1" dirty="0">
              <a:solidFill>
                <a:schemeClr val="tx1"/>
              </a:solidFill>
              <a:latin typeface="Arial" panose="020B0604020202020204" pitchFamily="34" charset="0"/>
              <a:cs typeface="Arial" panose="020B0604020202020204" pitchFamily="34" charset="0"/>
            </a:endParaRPr>
          </a:p>
          <a:p>
            <a:pPr algn="ctr"/>
            <a:r>
              <a:rPr lang="fr-FR" sz="1600" b="1" i="1" dirty="0" smtClean="0">
                <a:solidFill>
                  <a:schemeClr val="tx1"/>
                </a:solidFill>
                <a:latin typeface="Arial" panose="020B0604020202020204" pitchFamily="34" charset="0"/>
                <a:cs typeface="Arial" panose="020B0604020202020204" pitchFamily="34" charset="0"/>
              </a:rPr>
              <a:t>(Assistant </a:t>
            </a:r>
            <a:r>
              <a:rPr lang="fr-FR" sz="1600" b="1" i="1" dirty="0">
                <a:solidFill>
                  <a:schemeClr val="tx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82929492"/>
      </p:ext>
    </p:extLst>
  </p:cSld>
  <p:clrMapOvr>
    <a:masterClrMapping/>
  </p:clrMapOvr>
  <p:transition spd="slow">
    <p:randomBar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34999" y="343034"/>
            <a:ext cx="8639003" cy="6310984"/>
          </a:xfrm>
        </p:spPr>
        <p:txBody>
          <a:bodyPr/>
          <a:lstStyle/>
          <a:p>
            <a:r>
              <a:rPr lang="fr-FR" dirty="0">
                <a:latin typeface="Times New Roman" panose="02020603050405020304" pitchFamily="18" charset="0"/>
                <a:cs typeface="Times New Roman" panose="02020603050405020304" pitchFamily="18" charset="0"/>
              </a:rPr>
              <a:t>          </a:t>
            </a:r>
            <a:endParaRPr lang="fr-FR" dirty="0"/>
          </a:p>
        </p:txBody>
      </p:sp>
      <p:sp>
        <p:nvSpPr>
          <p:cNvPr id="3" name="Espace réservé du contenu 2"/>
          <p:cNvSpPr>
            <a:spLocks noGrp="1"/>
          </p:cNvSpPr>
          <p:nvPr>
            <p:ph idx="1"/>
          </p:nvPr>
        </p:nvSpPr>
        <p:spPr>
          <a:xfrm>
            <a:off x="147234" y="1052226"/>
            <a:ext cx="11656839" cy="5687988"/>
          </a:xfrm>
        </p:spPr>
        <p:txBody>
          <a:bodyPr>
            <a:noAutofit/>
          </a:bodyPr>
          <a:lstStyle/>
          <a:p>
            <a:pPr marL="1428750" lvl="2" indent="-514350">
              <a:lnSpc>
                <a:spcPct val="150000"/>
              </a:lnSpc>
              <a:spcBef>
                <a:spcPts val="0"/>
              </a:spcBef>
              <a:buFont typeface="+mj-lt"/>
              <a:buAutoNum type="romanUcPeriod"/>
            </a:pPr>
            <a:r>
              <a:rPr lang="fr-FR" sz="2000" dirty="0" smtClean="0">
                <a:latin typeface="Times New Roman" panose="02020603050405020304" pitchFamily="18" charset="0"/>
                <a:cs typeface="Times New Roman" panose="02020603050405020304" pitchFamily="18" charset="0"/>
              </a:rPr>
              <a:t>INTRODUCTION </a:t>
            </a:r>
          </a:p>
          <a:p>
            <a:pPr marL="1428750" lvl="2" indent="-514350">
              <a:lnSpc>
                <a:spcPct val="150000"/>
              </a:lnSpc>
              <a:spcBef>
                <a:spcPts val="0"/>
              </a:spcBef>
              <a:buFont typeface="+mj-lt"/>
              <a:buAutoNum type="romanUcPeriod"/>
            </a:pPr>
            <a:r>
              <a:rPr lang="fr-FR" dirty="0" smtClean="0">
                <a:latin typeface="Times New Roman" panose="02020603050405020304" pitchFamily="18" charset="0"/>
                <a:cs typeface="Times New Roman" panose="02020603050405020304" pitchFamily="18" charset="0"/>
              </a:rPr>
              <a:t>PRESENTATION DU LMAAD</a:t>
            </a:r>
          </a:p>
          <a:p>
            <a:pPr marL="1428750" lvl="2" indent="-514350">
              <a:lnSpc>
                <a:spcPct val="150000"/>
              </a:lnSpc>
              <a:spcBef>
                <a:spcPts val="0"/>
              </a:spcBef>
              <a:buFont typeface="+mj-lt"/>
              <a:buAutoNum type="romanUcPeriod"/>
            </a:pPr>
            <a:r>
              <a:rPr lang="fr-FR" sz="2000" dirty="0" smtClean="0">
                <a:latin typeface="Times New Roman" panose="02020603050405020304" pitchFamily="18" charset="0"/>
                <a:cs typeface="Times New Roman" panose="02020603050405020304" pitchFamily="18" charset="0"/>
              </a:rPr>
              <a:t>OBJECTIF DE L’EPS</a:t>
            </a:r>
          </a:p>
          <a:p>
            <a:pPr marL="1428750" lvl="2" indent="-514350">
              <a:lnSpc>
                <a:spcPct val="150000"/>
              </a:lnSpc>
              <a:spcBef>
                <a:spcPts val="0"/>
              </a:spcBef>
              <a:buFont typeface="+mj-lt"/>
              <a:buAutoNum type="romanUcPeriod"/>
            </a:pPr>
            <a:r>
              <a:rPr lang="fr-FR" dirty="0" smtClean="0">
                <a:latin typeface="Times New Roman" panose="02020603050405020304" pitchFamily="18" charset="0"/>
                <a:cs typeface="Times New Roman" panose="02020603050405020304" pitchFamily="18" charset="0"/>
              </a:rPr>
              <a:t>DESCRIPTION DE L’ACTIVITÉ </a:t>
            </a:r>
          </a:p>
          <a:p>
            <a:pPr marL="1428750" lvl="2" indent="-514350">
              <a:lnSpc>
                <a:spcPct val="150000"/>
              </a:lnSpc>
              <a:spcBef>
                <a:spcPts val="0"/>
              </a:spcBef>
              <a:buFont typeface="+mj-lt"/>
              <a:buAutoNum type="romanUcPeriod"/>
            </a:pPr>
            <a:r>
              <a:rPr lang="fr-FR" sz="2000" dirty="0" smtClean="0">
                <a:latin typeface="Times New Roman" panose="02020603050405020304" pitchFamily="18" charset="0"/>
                <a:cs typeface="Times New Roman" panose="02020603050405020304" pitchFamily="18" charset="0"/>
              </a:rPr>
              <a:t>BILAN DE STAGE</a:t>
            </a:r>
          </a:p>
          <a:p>
            <a:pPr marL="1428750" lvl="2" indent="-514350">
              <a:lnSpc>
                <a:spcPct val="150000"/>
              </a:lnSpc>
              <a:spcBef>
                <a:spcPts val="0"/>
              </a:spcBef>
              <a:buFont typeface="+mj-lt"/>
              <a:buAutoNum type="romanUcPeriod"/>
            </a:pPr>
            <a:r>
              <a:rPr lang="fr-FR" dirty="0" smtClean="0">
                <a:latin typeface="Times New Roman" panose="02020603050405020304" pitchFamily="18" charset="0"/>
                <a:cs typeface="Times New Roman" panose="02020603050405020304" pitchFamily="18" charset="0"/>
              </a:rPr>
              <a:t>PROBLÉMATIQUE </a:t>
            </a:r>
          </a:p>
          <a:p>
            <a:pPr marL="1428750" lvl="2" indent="-514350">
              <a:lnSpc>
                <a:spcPct val="150000"/>
              </a:lnSpc>
              <a:spcBef>
                <a:spcPts val="0"/>
              </a:spcBef>
              <a:buFont typeface="+mj-lt"/>
              <a:buAutoNum type="romanUcPeriod"/>
            </a:pPr>
            <a:r>
              <a:rPr lang="fr-FR" sz="2000" dirty="0" smtClean="0">
                <a:latin typeface="Times New Roman" panose="02020603050405020304" pitchFamily="18" charset="0"/>
                <a:cs typeface="Times New Roman" panose="02020603050405020304" pitchFamily="18" charset="0"/>
              </a:rPr>
              <a:t>PRÉCONISATION</a:t>
            </a:r>
          </a:p>
          <a:p>
            <a:pPr marL="1428750" lvl="2" indent="-514350">
              <a:lnSpc>
                <a:spcPct val="150000"/>
              </a:lnSpc>
              <a:spcBef>
                <a:spcPts val="0"/>
              </a:spcBef>
              <a:buFont typeface="+mj-lt"/>
              <a:buAutoNum type="romanUcPeriod"/>
            </a:pPr>
            <a:r>
              <a:rPr lang="fr-FR" sz="2000" dirty="0" smtClean="0">
                <a:latin typeface="Times New Roman" panose="02020603050405020304" pitchFamily="18" charset="0"/>
                <a:cs typeface="Times New Roman" panose="02020603050405020304" pitchFamily="18" charset="0"/>
              </a:rPr>
              <a:t>CONCLUSIONS </a:t>
            </a:r>
            <a:endParaRPr lang="fr-FR" sz="2000" dirty="0">
              <a:latin typeface="Times New Roman" panose="02020603050405020304" pitchFamily="18" charset="0"/>
              <a:cs typeface="Times New Roman" panose="02020603050405020304" pitchFamily="18" charset="0"/>
            </a:endParaRPr>
          </a:p>
        </p:txBody>
      </p:sp>
      <p:sp>
        <p:nvSpPr>
          <p:cNvPr id="5" name="Rectangle 4"/>
          <p:cNvSpPr/>
          <p:nvPr/>
        </p:nvSpPr>
        <p:spPr>
          <a:xfrm>
            <a:off x="2228818" y="256838"/>
            <a:ext cx="8162513" cy="76944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fr-FR" sz="4400" b="1" dirty="0">
                <a:solidFill>
                  <a:srgbClr val="FF0000"/>
                </a:solidFill>
                <a:latin typeface="Arial" panose="020B0604020202020204" pitchFamily="34" charset="0"/>
                <a:cs typeface="Arial" panose="020B0604020202020204" pitchFamily="34" charset="0"/>
              </a:rPr>
              <a:t>PLAN DE LA PRESENTATION</a:t>
            </a:r>
            <a:endParaRPr lang="fr-FR" sz="4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95873156"/>
      </p:ext>
    </p:extLst>
  </p:cSld>
  <p:clrMapOvr>
    <a:masterClrMapping/>
  </p:clrMapOvr>
  <p:transition spd="slow">
    <p:randomBar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863" y="914399"/>
            <a:ext cx="10263406" cy="5128850"/>
          </a:xfrm>
        </p:spPr>
      </p:pic>
    </p:spTree>
    <p:extLst>
      <p:ext uri="{BB962C8B-B14F-4D97-AF65-F5344CB8AC3E}">
        <p14:creationId xmlns:p14="http://schemas.microsoft.com/office/powerpoint/2010/main" val="961167138"/>
      </p:ext>
    </p:extLst>
  </p:cSld>
  <p:clrMapOvr>
    <a:masterClrMapping/>
  </p:clrMapOvr>
  <p:transition spd="slow">
    <p:randomBar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                  </a:t>
            </a:r>
            <a:r>
              <a:rPr lang="fr-FR" dirty="0" smtClean="0">
                <a:solidFill>
                  <a:srgbClr val="FF0000"/>
                </a:solidFill>
                <a:latin typeface="Arial" panose="020B0604020202020204" pitchFamily="34" charset="0"/>
                <a:cs typeface="Arial" panose="020B0604020202020204" pitchFamily="34" charset="0"/>
              </a:rPr>
              <a:t>I.INTRODUCTION</a:t>
            </a:r>
            <a:endParaRPr lang="fr-FR" dirty="0">
              <a:solidFill>
                <a:srgbClr val="FF0000"/>
              </a:solidFill>
              <a:latin typeface="Arial" panose="020B0604020202020204" pitchFamily="34" charset="0"/>
              <a:cs typeface="Arial" panose="020B0604020202020204" pitchFamily="34" charset="0"/>
            </a:endParaRPr>
          </a:p>
        </p:txBody>
      </p:sp>
      <p:sp>
        <p:nvSpPr>
          <p:cNvPr id="3" name="Espace réservé du contenu 2"/>
          <p:cNvSpPr>
            <a:spLocks noGrp="1"/>
          </p:cNvSpPr>
          <p:nvPr>
            <p:ph idx="1"/>
          </p:nvPr>
        </p:nvSpPr>
        <p:spPr>
          <a:xfrm>
            <a:off x="648929" y="1277006"/>
            <a:ext cx="10795819" cy="5376041"/>
          </a:xfrm>
        </p:spPr>
        <p:txBody>
          <a:bodyPr>
            <a:normAutofit fontScale="25000" lnSpcReduction="20000"/>
          </a:bodyPr>
          <a:lstStyle/>
          <a:p>
            <a:pPr marL="0" indent="0" algn="just">
              <a:lnSpc>
                <a:spcPct val="170000"/>
              </a:lnSpc>
              <a:buNone/>
            </a:pPr>
            <a:r>
              <a:rPr lang="fr-FR" sz="9600" dirty="0" smtClean="0">
                <a:latin typeface="Times New Roman" panose="02020603050405020304" pitchFamily="18" charset="0"/>
                <a:cs typeface="Times New Roman" panose="02020603050405020304" pitchFamily="18" charset="0"/>
              </a:rPr>
              <a:t>• </a:t>
            </a:r>
            <a:r>
              <a:rPr lang="fr-FR" sz="9600" dirty="0">
                <a:latin typeface="Times New Roman" panose="02020603050405020304" pitchFamily="18" charset="0"/>
                <a:cs typeface="Times New Roman" panose="02020603050405020304" pitchFamily="18" charset="0"/>
              </a:rPr>
              <a:t>Importance de l’EPS</a:t>
            </a:r>
          </a:p>
          <a:p>
            <a:pPr marL="0" indent="0" algn="just">
              <a:lnSpc>
                <a:spcPct val="170000"/>
              </a:lnSpc>
              <a:buNone/>
            </a:pPr>
            <a:r>
              <a:rPr lang="fr-FR" sz="9600" dirty="0">
                <a:latin typeface="Times New Roman" panose="02020603050405020304" pitchFamily="18" charset="0"/>
                <a:cs typeface="Times New Roman" panose="02020603050405020304" pitchFamily="18" charset="0"/>
              </a:rPr>
              <a:t>L’Éducation Physique et Sportive contribue au développement physique, moral et social de l’élève. Le saut en longueur, activité de l’athlétisme, permet de développer des </a:t>
            </a:r>
            <a:r>
              <a:rPr lang="fr-FR" sz="9600" dirty="0" smtClean="0">
                <a:latin typeface="Times New Roman" panose="02020603050405020304" pitchFamily="18" charset="0"/>
                <a:cs typeface="Times New Roman" panose="02020603050405020304" pitchFamily="18" charset="0"/>
              </a:rPr>
              <a:t>qualités </a:t>
            </a:r>
            <a:r>
              <a:rPr lang="fr-FR" sz="9600" dirty="0">
                <a:latin typeface="Times New Roman" panose="02020603050405020304" pitchFamily="18" charset="0"/>
                <a:cs typeface="Times New Roman" panose="02020603050405020304" pitchFamily="18" charset="0"/>
              </a:rPr>
              <a:t>comme la vitesse, la coordination et la confiance en soi.</a:t>
            </a:r>
          </a:p>
          <a:p>
            <a:pPr marL="0" indent="0" algn="just">
              <a:lnSpc>
                <a:spcPct val="170000"/>
              </a:lnSpc>
              <a:buNone/>
            </a:pPr>
            <a:r>
              <a:rPr lang="fr-FR" sz="9600" dirty="0">
                <a:latin typeface="Times New Roman" panose="02020603050405020304" pitchFamily="18" charset="0"/>
                <a:cs typeface="Times New Roman" panose="02020603050405020304" pitchFamily="18" charset="0"/>
              </a:rPr>
              <a:t>• Désintérêt des filles pour le saut en longueur</a:t>
            </a:r>
          </a:p>
          <a:p>
            <a:pPr marL="0" indent="0" algn="just">
              <a:lnSpc>
                <a:spcPct val="170000"/>
              </a:lnSpc>
              <a:buNone/>
            </a:pPr>
            <a:r>
              <a:rPr lang="fr-FR" sz="9600" dirty="0">
                <a:latin typeface="Times New Roman" panose="02020603050405020304" pitchFamily="18" charset="0"/>
                <a:cs typeface="Times New Roman" panose="02020603050405020304" pitchFamily="18" charset="0"/>
              </a:rPr>
              <a:t>Au Lycée Moderne Alphonse </a:t>
            </a:r>
            <a:r>
              <a:rPr lang="fr-FR" sz="9600" dirty="0" err="1">
                <a:latin typeface="Times New Roman" panose="02020603050405020304" pitchFamily="18" charset="0"/>
                <a:cs typeface="Times New Roman" panose="02020603050405020304" pitchFamily="18" charset="0"/>
              </a:rPr>
              <a:t>Assamoi</a:t>
            </a:r>
            <a:r>
              <a:rPr lang="fr-FR" sz="9600" dirty="0">
                <a:latin typeface="Times New Roman" panose="02020603050405020304" pitchFamily="18" charset="0"/>
                <a:cs typeface="Times New Roman" panose="02020603050405020304" pitchFamily="18" charset="0"/>
              </a:rPr>
              <a:t> de Divo, les filles du second cycle manifestent un faible intérêt pour le saut en longueur. Cette situation, liée à plusieurs facteurs psychologiques, matériels et pédagogiques, a motivé cette étude afin de proposer des solutions adaptées.</a:t>
            </a:r>
            <a:endParaRPr lang="fr-CI" sz="9600" dirty="0">
              <a:latin typeface="Times New Roman" panose="02020603050405020304" pitchFamily="18" charset="0"/>
              <a:cs typeface="Times New Roman" panose="02020603050405020304" pitchFamily="18" charset="0"/>
            </a:endParaRPr>
          </a:p>
          <a:p>
            <a:pPr marL="0" indent="0" algn="just">
              <a:lnSpc>
                <a:spcPct val="150000"/>
              </a:lnSpc>
              <a:buNone/>
            </a:pPr>
            <a:r>
              <a:rPr lang="fr-FR" sz="9600" dirty="0">
                <a:solidFill>
                  <a:srgbClr val="000000"/>
                </a:solidFill>
                <a:latin typeface="Times New Roman" panose="02020603050405020304" pitchFamily="18" charset="0"/>
                <a:cs typeface="Times New Roman" panose="02020603050405020304" pitchFamily="18" charset="0"/>
              </a:rPr>
              <a:t> </a:t>
            </a:r>
          </a:p>
          <a:p>
            <a:endParaRPr lang="fr-FR" dirty="0"/>
          </a:p>
        </p:txBody>
      </p:sp>
    </p:spTree>
    <p:extLst>
      <p:ext uri="{BB962C8B-B14F-4D97-AF65-F5344CB8AC3E}">
        <p14:creationId xmlns:p14="http://schemas.microsoft.com/office/powerpoint/2010/main" val="2985102548"/>
      </p:ext>
    </p:extLst>
  </p:cSld>
  <p:clrMapOvr>
    <a:masterClrMapping/>
  </p:clrMapOvr>
  <p:transition spd="slow">
    <p:randomBar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964911"/>
          </a:xfrm>
        </p:spPr>
        <p:txBody>
          <a:bodyPr/>
          <a:lstStyle/>
          <a:p>
            <a:r>
              <a:rPr lang="fr-FR" dirty="0">
                <a:solidFill>
                  <a:srgbClr val="FF0000"/>
                </a:solidFill>
              </a:rPr>
              <a:t>   II. PRESENTATION </a:t>
            </a:r>
            <a:r>
              <a:rPr lang="fr-FR" dirty="0" smtClean="0">
                <a:solidFill>
                  <a:srgbClr val="FF0000"/>
                </a:solidFill>
              </a:rPr>
              <a:t>DU LMAAD</a:t>
            </a:r>
            <a:endParaRPr lang="fr-FR" dirty="0">
              <a:solidFill>
                <a:srgbClr val="FF0000"/>
              </a:solidFill>
            </a:endParaRPr>
          </a:p>
        </p:txBody>
      </p:sp>
      <p:sp>
        <p:nvSpPr>
          <p:cNvPr id="3" name="Espace réservé du contenu 2"/>
          <p:cNvSpPr>
            <a:spLocks noGrp="1"/>
          </p:cNvSpPr>
          <p:nvPr>
            <p:ph idx="1"/>
          </p:nvPr>
        </p:nvSpPr>
        <p:spPr>
          <a:xfrm>
            <a:off x="838200" y="1330036"/>
            <a:ext cx="10515600" cy="4846927"/>
          </a:xfrm>
        </p:spPr>
        <p:txBody>
          <a:bodyPr>
            <a:normAutofit/>
          </a:bodyPr>
          <a:lstStyle/>
          <a:p>
            <a:pPr marL="0" indent="0" algn="just">
              <a:buNone/>
            </a:pPr>
            <a:r>
              <a:rPr lang="fr-FR" sz="2400" dirty="0">
                <a:latin typeface="Times New Roman" panose="02020603050405020304" pitchFamily="18" charset="0"/>
                <a:cs typeface="Times New Roman" panose="02020603050405020304" pitchFamily="18" charset="0"/>
              </a:rPr>
              <a:t>                   </a:t>
            </a:r>
          </a:p>
        </p:txBody>
      </p:sp>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5117" y="1276998"/>
            <a:ext cx="8986345" cy="4953001"/>
          </a:xfrm>
          <a:prstGeom prst="rect">
            <a:avLst/>
          </a:prstGeom>
        </p:spPr>
      </p:pic>
    </p:spTree>
    <p:extLst>
      <p:ext uri="{BB962C8B-B14F-4D97-AF65-F5344CB8AC3E}">
        <p14:creationId xmlns:p14="http://schemas.microsoft.com/office/powerpoint/2010/main" val="989993878"/>
      </p:ext>
    </p:extLst>
  </p:cSld>
  <p:clrMapOvr>
    <a:masterClrMapping/>
  </p:clrMapOvr>
  <p:transition spd="slow">
    <p:randomBar dir="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           </a:t>
            </a:r>
            <a:r>
              <a:rPr lang="fr-FR" dirty="0">
                <a:solidFill>
                  <a:srgbClr val="FF0000"/>
                </a:solidFill>
              </a:rPr>
              <a:t>III. </a:t>
            </a:r>
            <a:r>
              <a:rPr lang="fr-FR" dirty="0" smtClean="0">
                <a:solidFill>
                  <a:srgbClr val="FF0000"/>
                </a:solidFill>
              </a:rPr>
              <a:t>OBJECTIF DE L’EPS</a:t>
            </a:r>
            <a:endParaRPr lang="fr-FR" dirty="0">
              <a:solidFill>
                <a:srgbClr val="FF0000"/>
              </a:solidFill>
            </a:endParaRPr>
          </a:p>
        </p:txBody>
      </p:sp>
      <p:sp>
        <p:nvSpPr>
          <p:cNvPr id="3" name="Espace réservé du contenu 2"/>
          <p:cNvSpPr>
            <a:spLocks noGrp="1"/>
          </p:cNvSpPr>
          <p:nvPr>
            <p:ph idx="1"/>
          </p:nvPr>
        </p:nvSpPr>
        <p:spPr>
          <a:xfrm>
            <a:off x="827315" y="1877384"/>
            <a:ext cx="10515600" cy="4351338"/>
          </a:xfrm>
        </p:spPr>
        <p:txBody>
          <a:bodyPr>
            <a:normAutofit/>
          </a:bodyPr>
          <a:lstStyle/>
          <a:p>
            <a:pPr algn="just">
              <a:lnSpc>
                <a:spcPct val="150000"/>
              </a:lnSpc>
              <a:buFont typeface="Wingdings" panose="05000000000000000000" pitchFamily="2" charset="2"/>
              <a:buChar char="Ø"/>
              <a:defRPr/>
            </a:pPr>
            <a:r>
              <a:rPr lang="fr-FR" dirty="0"/>
              <a:t>L’Éducation Physique et Sportive vise à assurer le développement global de l’élève, tant sur </a:t>
            </a:r>
            <a:r>
              <a:rPr lang="fr-FR" dirty="0" smtClean="0"/>
              <a:t>le plan </a:t>
            </a:r>
            <a:r>
              <a:rPr lang="fr-FR" dirty="0"/>
              <a:t>physique que sur les plans moral et </a:t>
            </a:r>
            <a:r>
              <a:rPr lang="fr-FR" dirty="0" smtClean="0"/>
              <a:t>social.</a:t>
            </a:r>
          </a:p>
          <a:p>
            <a:pPr algn="just">
              <a:lnSpc>
                <a:spcPct val="150000"/>
              </a:lnSpc>
              <a:buFont typeface="Wingdings" panose="05000000000000000000" pitchFamily="2" charset="2"/>
              <a:buChar char="Ø"/>
              <a:defRPr/>
            </a:pPr>
            <a:r>
              <a:rPr lang="fr-FR" dirty="0" smtClean="0"/>
              <a:t>Elle </a:t>
            </a:r>
            <a:r>
              <a:rPr lang="fr-FR" dirty="0"/>
              <a:t>a pour objectif d’améliorer les capacités motrices, de promouvoir la santé et de </a:t>
            </a:r>
            <a:r>
              <a:rPr lang="fr-FR" dirty="0" smtClean="0"/>
              <a:t>favoriser l’intégration </a:t>
            </a:r>
            <a:r>
              <a:rPr lang="fr-FR" dirty="0"/>
              <a:t>sociale des </a:t>
            </a:r>
            <a:r>
              <a:rPr lang="fr-FR" dirty="0" smtClean="0"/>
              <a:t>apprenants.</a:t>
            </a:r>
          </a:p>
          <a:p>
            <a:pPr algn="just">
              <a:lnSpc>
                <a:spcPct val="150000"/>
              </a:lnSpc>
              <a:buFont typeface="Wingdings" panose="05000000000000000000" pitchFamily="2" charset="2"/>
              <a:buChar char="Ø"/>
              <a:defRPr/>
            </a:pPr>
            <a:r>
              <a:rPr lang="fr-FR" dirty="0" smtClean="0"/>
              <a:t>Elle </a:t>
            </a:r>
            <a:r>
              <a:rPr lang="fr-FR" dirty="0"/>
              <a:t>contribue également à la transmission de valeurs essentielles telles que le respect des </a:t>
            </a:r>
            <a:r>
              <a:rPr lang="fr-FR" dirty="0" smtClean="0"/>
              <a:t>règles , l’esprit </a:t>
            </a:r>
            <a:r>
              <a:rPr lang="fr-FR" dirty="0"/>
              <a:t>d’équipe, la discipline et la persévérance</a:t>
            </a:r>
          </a:p>
          <a:p>
            <a:pPr marL="0" indent="0" algn="just">
              <a:lnSpc>
                <a:spcPct val="150000"/>
              </a:lnSpc>
              <a:buNone/>
              <a:defRPr/>
            </a:pPr>
            <a:endParaRPr 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7673208"/>
      </p:ext>
    </p:extLst>
  </p:cSld>
  <p:clrMapOvr>
    <a:masterClrMapping/>
  </p:clrMapOvr>
  <p:transition spd="slow">
    <p:randomBar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        </a:t>
            </a:r>
            <a:r>
              <a:rPr lang="fr-FR" dirty="0" smtClean="0">
                <a:solidFill>
                  <a:srgbClr val="FF0000"/>
                </a:solidFill>
              </a:rPr>
              <a:t>IV.DESCRIPTION DE L’ACTIVITÉ </a:t>
            </a:r>
            <a:endParaRPr lang="fr-FR" dirty="0">
              <a:solidFill>
                <a:srgbClr val="FF0000"/>
              </a:solidFill>
            </a:endParaRPr>
          </a:p>
        </p:txBody>
      </p:sp>
      <p:sp>
        <p:nvSpPr>
          <p:cNvPr id="3" name="Espace réservé du contenu 2"/>
          <p:cNvSpPr>
            <a:spLocks noGrp="1"/>
          </p:cNvSpPr>
          <p:nvPr>
            <p:ph idx="1"/>
          </p:nvPr>
        </p:nvSpPr>
        <p:spPr>
          <a:xfrm>
            <a:off x="332874" y="1296236"/>
            <a:ext cx="11526251" cy="5388343"/>
          </a:xfrm>
        </p:spPr>
        <p:txBody>
          <a:bodyPr>
            <a:normAutofit/>
          </a:bodyPr>
          <a:lstStyle/>
          <a:p>
            <a:pPr marL="0" indent="0">
              <a:lnSpc>
                <a:spcPct val="150000"/>
              </a:lnSpc>
              <a:buClr>
                <a:schemeClr val="accent6"/>
              </a:buClr>
              <a:buNone/>
            </a:pPr>
            <a:endParaRPr lang="fr-FR" sz="2600" dirty="0">
              <a:latin typeface="Times New Roman" panose="02020603050405020304" pitchFamily="18" charset="0"/>
              <a:cs typeface="Times New Roman" panose="02020603050405020304" pitchFamily="18" charset="0"/>
            </a:endParaRPr>
          </a:p>
          <a:p>
            <a:pPr marL="0" indent="0" algn="ctr">
              <a:lnSpc>
                <a:spcPct val="150000"/>
              </a:lnSpc>
              <a:buClr>
                <a:schemeClr val="accent6"/>
              </a:buClr>
              <a:buNone/>
            </a:pPr>
            <a:endParaRPr lang="fr-FR" dirty="0">
              <a:latin typeface="Arial" panose="020B0604020202020204" pitchFamily="34" charset="0"/>
              <a:cs typeface="Arial" panose="020B0604020202020204" pitchFamily="34" charset="0"/>
            </a:endParaRPr>
          </a:p>
          <a:p>
            <a:endParaRPr lang="fr-FR" dirty="0"/>
          </a:p>
          <a:p>
            <a:pPr marL="0" indent="0" algn="ctr">
              <a:lnSpc>
                <a:spcPct val="150000"/>
              </a:lnSpc>
              <a:buClr>
                <a:schemeClr val="accent6"/>
              </a:buClr>
              <a:buNone/>
            </a:pPr>
            <a:endParaRPr lang="fr-FR" b="1" dirty="0">
              <a:latin typeface="Arial" panose="020B0604020202020204" pitchFamily="34" charset="0"/>
              <a:cs typeface="Arial" panose="020B0604020202020204" pitchFamily="34" charset="0"/>
            </a:endParaRPr>
          </a:p>
          <a:p>
            <a:endParaRPr lang="fr-FR" dirty="0"/>
          </a:p>
        </p:txBody>
      </p:sp>
      <p:sp>
        <p:nvSpPr>
          <p:cNvPr id="6" name="Rectangle 5"/>
          <p:cNvSpPr/>
          <p:nvPr/>
        </p:nvSpPr>
        <p:spPr>
          <a:xfrm>
            <a:off x="175826" y="2927131"/>
            <a:ext cx="3797084" cy="13803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dirty="0" smtClean="0"/>
              <a:t>ACTIVITE GYMNIQUE</a:t>
            </a:r>
            <a:endParaRPr lang="fr-FR" dirty="0"/>
          </a:p>
        </p:txBody>
      </p:sp>
      <p:sp>
        <p:nvSpPr>
          <p:cNvPr id="7" name="Rectangle 6"/>
          <p:cNvSpPr/>
          <p:nvPr/>
        </p:nvSpPr>
        <p:spPr>
          <a:xfrm>
            <a:off x="4317370" y="1546772"/>
            <a:ext cx="3105806" cy="13803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dirty="0" smtClean="0"/>
              <a:t>ACTIVITE DE COURSE DE VITESSE</a:t>
            </a:r>
            <a:endParaRPr lang="fr-FR" dirty="0"/>
          </a:p>
        </p:txBody>
      </p:sp>
      <p:sp>
        <p:nvSpPr>
          <p:cNvPr id="8" name="Rectangle 7"/>
          <p:cNvSpPr/>
          <p:nvPr/>
        </p:nvSpPr>
        <p:spPr>
          <a:xfrm>
            <a:off x="7631280" y="2927130"/>
            <a:ext cx="4227845" cy="13803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dirty="0" smtClean="0"/>
              <a:t>ACTIVITE ATHLETIQUE ( saut et lancer )</a:t>
            </a:r>
            <a:endParaRPr lang="fr-FR" dirty="0"/>
          </a:p>
        </p:txBody>
      </p:sp>
    </p:spTree>
    <p:extLst>
      <p:ext uri="{BB962C8B-B14F-4D97-AF65-F5344CB8AC3E}">
        <p14:creationId xmlns:p14="http://schemas.microsoft.com/office/powerpoint/2010/main" val="2614524061"/>
      </p:ext>
    </p:extLst>
  </p:cSld>
  <p:clrMapOvr>
    <a:masterClrMapping/>
  </p:clrMapOvr>
  <p:transition spd="slow">
    <p:randomBar dir="ver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77334" y="352926"/>
            <a:ext cx="8596668" cy="1320800"/>
          </a:xfrm>
        </p:spPr>
        <p:txBody>
          <a:bodyPr/>
          <a:lstStyle/>
          <a:p>
            <a:r>
              <a:rPr lang="fr-FR" dirty="0"/>
              <a:t>                         </a:t>
            </a:r>
            <a:r>
              <a:rPr lang="fr-FR" dirty="0" smtClean="0">
                <a:solidFill>
                  <a:srgbClr val="FF0000"/>
                </a:solidFill>
              </a:rPr>
              <a:t>V. BILAN DE STAGE</a:t>
            </a:r>
            <a:endParaRPr lang="fr-FR" dirty="0">
              <a:solidFill>
                <a:srgbClr val="FF0000"/>
              </a:solidFill>
            </a:endParaRPr>
          </a:p>
        </p:txBody>
      </p:sp>
      <p:sp>
        <p:nvSpPr>
          <p:cNvPr id="3" name="Espace réservé du contenu 2"/>
          <p:cNvSpPr>
            <a:spLocks noGrp="1"/>
          </p:cNvSpPr>
          <p:nvPr>
            <p:ph idx="1"/>
          </p:nvPr>
        </p:nvSpPr>
        <p:spPr>
          <a:xfrm>
            <a:off x="677334" y="868946"/>
            <a:ext cx="8596668" cy="5868737"/>
          </a:xfrm>
        </p:spPr>
        <p:txBody>
          <a:bodyPr>
            <a:normAutofit fontScale="25000" lnSpcReduction="20000"/>
          </a:bodyPr>
          <a:lstStyle/>
          <a:p>
            <a:pPr marL="0" indent="0" algn="just">
              <a:lnSpc>
                <a:spcPct val="150000"/>
              </a:lnSpc>
              <a:buClr>
                <a:schemeClr val="accent6"/>
              </a:buClr>
              <a:buNone/>
            </a:pPr>
            <a:r>
              <a:rPr lang="fr-FR" sz="7200" dirty="0" smtClean="0"/>
              <a:t>1- Sur le plan psychologique </a:t>
            </a:r>
          </a:p>
          <a:p>
            <a:pPr algn="just">
              <a:lnSpc>
                <a:spcPct val="150000"/>
              </a:lnSpc>
              <a:buClr>
                <a:schemeClr val="accent6"/>
              </a:buClr>
              <a:buFont typeface="Wingdings" panose="05000000000000000000" pitchFamily="2" charset="2"/>
              <a:buChar char="§"/>
            </a:pPr>
            <a:r>
              <a:rPr lang="fr-FR" sz="7200" dirty="0" smtClean="0"/>
              <a:t>Motivation des élèves</a:t>
            </a:r>
          </a:p>
          <a:p>
            <a:pPr algn="just">
              <a:lnSpc>
                <a:spcPct val="150000"/>
              </a:lnSpc>
              <a:buClr>
                <a:schemeClr val="accent6"/>
              </a:buClr>
              <a:buFont typeface="Wingdings" panose="05000000000000000000" pitchFamily="2" charset="2"/>
              <a:buChar char="§"/>
            </a:pPr>
            <a:r>
              <a:rPr lang="fr-FR" sz="7200" dirty="0" smtClean="0"/>
              <a:t>Manque de confiance en soi</a:t>
            </a:r>
          </a:p>
          <a:p>
            <a:pPr algn="just">
              <a:lnSpc>
                <a:spcPct val="150000"/>
              </a:lnSpc>
              <a:buClr>
                <a:schemeClr val="accent6"/>
              </a:buClr>
              <a:buFont typeface="Wingdings" panose="05000000000000000000" pitchFamily="2" charset="2"/>
              <a:buChar char="§"/>
            </a:pPr>
            <a:r>
              <a:rPr lang="fr-FR" sz="7200" dirty="0" smtClean="0"/>
              <a:t>Participation inégale pendant les séances </a:t>
            </a:r>
          </a:p>
          <a:p>
            <a:pPr marL="0" indent="0" algn="just">
              <a:lnSpc>
                <a:spcPct val="150000"/>
              </a:lnSpc>
              <a:buClr>
                <a:schemeClr val="accent6"/>
              </a:buClr>
              <a:buNone/>
            </a:pPr>
            <a:r>
              <a:rPr lang="fr-FR" sz="7200" dirty="0" smtClean="0"/>
              <a:t>2- Sur le plan matériel</a:t>
            </a:r>
          </a:p>
          <a:p>
            <a:pPr algn="just">
              <a:lnSpc>
                <a:spcPct val="150000"/>
              </a:lnSpc>
              <a:buClr>
                <a:schemeClr val="accent6"/>
              </a:buClr>
              <a:buFont typeface="Wingdings" panose="05000000000000000000" pitchFamily="2" charset="2"/>
              <a:buChar char="§"/>
            </a:pPr>
            <a:r>
              <a:rPr lang="fr-FR" sz="7200" dirty="0" smtClean="0"/>
              <a:t>Insuffisance de matériel sportif</a:t>
            </a:r>
          </a:p>
          <a:p>
            <a:pPr algn="just">
              <a:lnSpc>
                <a:spcPct val="150000"/>
              </a:lnSpc>
              <a:buClr>
                <a:schemeClr val="accent6"/>
              </a:buClr>
              <a:buFont typeface="Wingdings" panose="05000000000000000000" pitchFamily="2" charset="2"/>
              <a:buChar char="§"/>
            </a:pPr>
            <a:r>
              <a:rPr lang="fr-FR" sz="7200" dirty="0" smtClean="0"/>
              <a:t>Espace de pratique limité</a:t>
            </a:r>
          </a:p>
          <a:p>
            <a:pPr algn="just">
              <a:lnSpc>
                <a:spcPct val="150000"/>
              </a:lnSpc>
              <a:buClr>
                <a:schemeClr val="accent6"/>
              </a:buClr>
              <a:buFont typeface="Wingdings" panose="05000000000000000000" pitchFamily="2" charset="2"/>
              <a:buChar char="§"/>
            </a:pPr>
            <a:r>
              <a:rPr lang="fr-FR" sz="7200" dirty="0" smtClean="0"/>
              <a:t>Condition de travail parfois difficiles</a:t>
            </a:r>
          </a:p>
          <a:p>
            <a:pPr marL="0" indent="0" algn="just">
              <a:lnSpc>
                <a:spcPct val="150000"/>
              </a:lnSpc>
              <a:buClr>
                <a:schemeClr val="accent6"/>
              </a:buClr>
              <a:buNone/>
            </a:pPr>
            <a:r>
              <a:rPr lang="fr-FR" sz="7200" dirty="0" smtClean="0"/>
              <a:t>3- Sur le plan pédagogique</a:t>
            </a:r>
          </a:p>
          <a:p>
            <a:pPr algn="just">
              <a:lnSpc>
                <a:spcPct val="150000"/>
              </a:lnSpc>
              <a:buClr>
                <a:schemeClr val="accent6"/>
              </a:buClr>
              <a:buFont typeface="Wingdings" panose="05000000000000000000" pitchFamily="2" charset="2"/>
              <a:buChar char="§"/>
            </a:pPr>
            <a:r>
              <a:rPr lang="fr-FR" sz="7200" dirty="0" smtClean="0"/>
              <a:t>Encadrement des élèves</a:t>
            </a:r>
          </a:p>
          <a:p>
            <a:pPr algn="just">
              <a:lnSpc>
                <a:spcPct val="150000"/>
              </a:lnSpc>
              <a:buClr>
                <a:schemeClr val="accent6"/>
              </a:buClr>
              <a:buFont typeface="Wingdings" panose="05000000000000000000" pitchFamily="2" charset="2"/>
              <a:buChar char="§"/>
            </a:pPr>
            <a:r>
              <a:rPr lang="fr-FR" sz="7200" dirty="0" smtClean="0"/>
              <a:t>Application des méthodes d’enseignements </a:t>
            </a:r>
          </a:p>
          <a:p>
            <a:pPr algn="just">
              <a:lnSpc>
                <a:spcPct val="150000"/>
              </a:lnSpc>
              <a:buClr>
                <a:schemeClr val="accent6"/>
              </a:buClr>
              <a:buFont typeface="Wingdings" panose="05000000000000000000" pitchFamily="2" charset="2"/>
              <a:buChar char="§"/>
            </a:pPr>
            <a:r>
              <a:rPr lang="fr-FR" sz="7200" dirty="0" smtClean="0"/>
              <a:t>Adaptation des situations d’apprentissage</a:t>
            </a:r>
          </a:p>
          <a:p>
            <a:pPr marL="0" indent="0" algn="just">
              <a:lnSpc>
                <a:spcPct val="150000"/>
              </a:lnSpc>
              <a:buClr>
                <a:schemeClr val="accent6"/>
              </a:buClr>
              <a:buNone/>
            </a:pPr>
            <a:endParaRPr lang="fr-FR" dirty="0" smtClean="0"/>
          </a:p>
          <a:p>
            <a:pPr marL="0" indent="0" algn="just">
              <a:lnSpc>
                <a:spcPct val="150000"/>
              </a:lnSpc>
              <a:buClr>
                <a:schemeClr val="accent6"/>
              </a:buClr>
              <a:buNone/>
            </a:pPr>
            <a:endParaRPr lang="fr-FR" dirty="0"/>
          </a:p>
        </p:txBody>
      </p:sp>
    </p:spTree>
    <p:extLst>
      <p:ext uri="{BB962C8B-B14F-4D97-AF65-F5344CB8AC3E}">
        <p14:creationId xmlns:p14="http://schemas.microsoft.com/office/powerpoint/2010/main" val="593393949"/>
      </p:ext>
    </p:extLst>
  </p:cSld>
  <p:clrMapOvr>
    <a:masterClrMapping/>
  </p:clrMapOvr>
  <p:transition spd="slow">
    <p:randomBar dir="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solidFill>
                  <a:srgbClr val="FF0000"/>
                </a:solidFill>
              </a:rPr>
              <a:t>VI. PROBLEMATIQUE 1 /2</a:t>
            </a:r>
            <a:endParaRPr lang="fr-FR" dirty="0"/>
          </a:p>
        </p:txBody>
      </p:sp>
      <p:sp>
        <p:nvSpPr>
          <p:cNvPr id="3" name="Espace réservé du contenu 2"/>
          <p:cNvSpPr>
            <a:spLocks noGrp="1"/>
          </p:cNvSpPr>
          <p:nvPr>
            <p:ph idx="1"/>
          </p:nvPr>
        </p:nvSpPr>
        <p:spPr/>
        <p:txBody>
          <a:bodyPr/>
          <a:lstStyle/>
          <a:p>
            <a:pPr marL="0" indent="0" algn="ctr">
              <a:buNone/>
            </a:pPr>
            <a:r>
              <a:rPr lang="fr-FR" dirty="0" smtClean="0"/>
              <a:t>QUESTION CENTRALE RE RECHERCHE</a:t>
            </a:r>
            <a:endParaRPr lang="fr-FR" dirty="0"/>
          </a:p>
        </p:txBody>
      </p:sp>
      <p:sp>
        <p:nvSpPr>
          <p:cNvPr id="4" name="Rectangle 3"/>
          <p:cNvSpPr/>
          <p:nvPr/>
        </p:nvSpPr>
        <p:spPr>
          <a:xfrm>
            <a:off x="1087821" y="1930400"/>
            <a:ext cx="9361925" cy="131393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sz="2400" dirty="0" smtClean="0">
                <a:solidFill>
                  <a:srgbClr val="FF0000"/>
                </a:solidFill>
              </a:rPr>
              <a:t>Question centrale de recherche</a:t>
            </a:r>
          </a:p>
          <a:p>
            <a:r>
              <a:rPr lang="fr-FR" sz="2400" dirty="0" smtClean="0"/>
              <a:t>Quels facteurs expliquent le désintérêt des filles du second cycle pour la pratique du saut en longueurs </a:t>
            </a:r>
            <a:endParaRPr lang="fr-FR" sz="2400" dirty="0"/>
          </a:p>
        </p:txBody>
      </p:sp>
      <p:cxnSp>
        <p:nvCxnSpPr>
          <p:cNvPr id="14" name="Connecteur droit 13"/>
          <p:cNvCxnSpPr>
            <a:stCxn id="4" idx="2"/>
          </p:cNvCxnSpPr>
          <p:nvPr/>
        </p:nvCxnSpPr>
        <p:spPr>
          <a:xfrm flipH="1">
            <a:off x="5657852" y="3244334"/>
            <a:ext cx="110932" cy="356116"/>
          </a:xfrm>
          <a:prstGeom prst="line">
            <a:avLst/>
          </a:prstGeom>
        </p:spPr>
        <p:style>
          <a:lnRef idx="1">
            <a:schemeClr val="accent1"/>
          </a:lnRef>
          <a:fillRef idx="0">
            <a:schemeClr val="accent1"/>
          </a:fillRef>
          <a:effectRef idx="0">
            <a:schemeClr val="accent1"/>
          </a:effectRef>
          <a:fontRef idx="minor">
            <a:schemeClr val="tx1"/>
          </a:fontRef>
        </p:style>
      </p:cxnSp>
      <p:sp>
        <p:nvSpPr>
          <p:cNvPr id="15" name="Rectangle à coins arrondis 14"/>
          <p:cNvSpPr/>
          <p:nvPr/>
        </p:nvSpPr>
        <p:spPr>
          <a:xfrm>
            <a:off x="865953" y="3579557"/>
            <a:ext cx="9583793" cy="212658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sz="2400" dirty="0" smtClean="0">
                <a:solidFill>
                  <a:srgbClr val="FF0000"/>
                </a:solidFill>
              </a:rPr>
              <a:t>Question subsidiaire </a:t>
            </a:r>
          </a:p>
          <a:p>
            <a:r>
              <a:rPr lang="fr-FR" dirty="0" smtClean="0"/>
              <a:t>• </a:t>
            </a:r>
            <a:r>
              <a:rPr lang="fr-FR" sz="2400" dirty="0"/>
              <a:t>Quels sont les facteurs psychologiques </a:t>
            </a:r>
            <a:r>
              <a:rPr lang="fr-FR" sz="2400" dirty="0" smtClean="0"/>
              <a:t>du désintérêt </a:t>
            </a:r>
            <a:r>
              <a:rPr lang="fr-FR" sz="2400" dirty="0"/>
              <a:t>des filles </a:t>
            </a:r>
            <a:r>
              <a:rPr lang="fr-FR" sz="2400" dirty="0" smtClean="0"/>
              <a:t>?</a:t>
            </a:r>
          </a:p>
          <a:p>
            <a:r>
              <a:rPr lang="fr-FR" sz="2400" dirty="0" smtClean="0"/>
              <a:t>• </a:t>
            </a:r>
            <a:r>
              <a:rPr lang="fr-FR" sz="2400" dirty="0"/>
              <a:t>Quel est l’impact des conditions </a:t>
            </a:r>
            <a:r>
              <a:rPr lang="fr-FR" sz="2400" dirty="0" smtClean="0"/>
              <a:t>matérielles sur </a:t>
            </a:r>
            <a:r>
              <a:rPr lang="fr-FR" sz="2400" dirty="0"/>
              <a:t>leur participation </a:t>
            </a:r>
            <a:r>
              <a:rPr lang="fr-FR" sz="2400" dirty="0" smtClean="0"/>
              <a:t>?</a:t>
            </a:r>
          </a:p>
          <a:p>
            <a:r>
              <a:rPr lang="fr-FR" sz="2400" dirty="0" smtClean="0"/>
              <a:t>• </a:t>
            </a:r>
            <a:r>
              <a:rPr lang="fr-FR" sz="2400" dirty="0"/>
              <a:t>Quelles stratégies pédagogiques </a:t>
            </a:r>
            <a:r>
              <a:rPr lang="fr-FR" sz="2400" dirty="0" smtClean="0"/>
              <a:t>peuvent améliorer </a:t>
            </a:r>
            <a:r>
              <a:rPr lang="fr-FR" sz="2400" dirty="0"/>
              <a:t>leur </a:t>
            </a:r>
            <a:r>
              <a:rPr lang="fr-FR" sz="2400" dirty="0" smtClean="0"/>
              <a:t>motivation ?</a:t>
            </a:r>
            <a:endParaRPr lang="fr-FR" sz="2400" dirty="0"/>
          </a:p>
        </p:txBody>
      </p:sp>
    </p:spTree>
    <p:extLst>
      <p:ext uri="{BB962C8B-B14F-4D97-AF65-F5344CB8AC3E}">
        <p14:creationId xmlns:p14="http://schemas.microsoft.com/office/powerpoint/2010/main" val="2143692362"/>
      </p:ext>
    </p:extLst>
  </p:cSld>
  <p:clrMapOvr>
    <a:masterClrMapping/>
  </p:clrMapOvr>
  <p:transition spd="slow">
    <p:randomBar dir="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solidFill>
                  <a:srgbClr val="FF0000"/>
                </a:solidFill>
              </a:rPr>
              <a:t>   </a:t>
            </a:r>
            <a:r>
              <a:rPr lang="fr-FR" dirty="0" smtClean="0">
                <a:solidFill>
                  <a:srgbClr val="FF0000"/>
                </a:solidFill>
              </a:rPr>
              <a:t>PROBLÉMATIQUE 2/2</a:t>
            </a:r>
            <a:endParaRPr lang="fr-FR" dirty="0">
              <a:solidFill>
                <a:srgbClr val="FF0000"/>
              </a:solidFill>
            </a:endParaRPr>
          </a:p>
        </p:txBody>
      </p:sp>
      <p:sp>
        <p:nvSpPr>
          <p:cNvPr id="3" name="Espace réservé du contenu 2"/>
          <p:cNvSpPr>
            <a:spLocks noGrp="1"/>
          </p:cNvSpPr>
          <p:nvPr>
            <p:ph idx="1"/>
          </p:nvPr>
        </p:nvSpPr>
        <p:spPr>
          <a:xfrm>
            <a:off x="677882" y="1333500"/>
            <a:ext cx="10515600" cy="4991025"/>
          </a:xfrm>
        </p:spPr>
        <p:txBody>
          <a:bodyPr>
            <a:normAutofit/>
          </a:bodyPr>
          <a:lstStyle/>
          <a:p>
            <a:pPr marL="0" indent="0" algn="just">
              <a:lnSpc>
                <a:spcPct val="150000"/>
              </a:lnSpc>
              <a:buNone/>
            </a:pPr>
            <a:endParaRPr lang="fr-FR" sz="2600" dirty="0">
              <a:latin typeface="Times New Roman" pitchFamily="18" charset="0"/>
              <a:cs typeface="Times New Roman" pitchFamily="18" charset="0"/>
            </a:endParaRPr>
          </a:p>
        </p:txBody>
      </p:sp>
      <p:sp>
        <p:nvSpPr>
          <p:cNvPr id="4" name="Rectangle 3"/>
          <p:cNvSpPr/>
          <p:nvPr/>
        </p:nvSpPr>
        <p:spPr>
          <a:xfrm>
            <a:off x="677882" y="2226828"/>
            <a:ext cx="3219450" cy="3810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fr-FR" sz="2800" dirty="0" smtClean="0">
                <a:solidFill>
                  <a:srgbClr val="FF0000"/>
                </a:solidFill>
              </a:rPr>
              <a:t>Objectif Général</a:t>
            </a:r>
          </a:p>
          <a:p>
            <a:endParaRPr lang="fr-FR" dirty="0" smtClean="0"/>
          </a:p>
          <a:p>
            <a:r>
              <a:rPr lang="fr-FR" sz="2400" dirty="0" smtClean="0"/>
              <a:t>Analyser </a:t>
            </a:r>
            <a:r>
              <a:rPr lang="fr-FR" sz="2400" dirty="0"/>
              <a:t>les </a:t>
            </a:r>
            <a:r>
              <a:rPr lang="fr-FR" sz="2400" dirty="0" smtClean="0"/>
              <a:t>causes psychologiques, matérielles et pédagogiques du désintérêts </a:t>
            </a:r>
            <a:r>
              <a:rPr lang="fr-FR" sz="2400" dirty="0"/>
              <a:t>des </a:t>
            </a:r>
            <a:r>
              <a:rPr lang="fr-FR" sz="2400" dirty="0" smtClean="0"/>
              <a:t>filles du </a:t>
            </a:r>
            <a:r>
              <a:rPr lang="fr-FR" sz="2400" dirty="0"/>
              <a:t>second cycle </a:t>
            </a:r>
            <a:r>
              <a:rPr lang="fr-FR" sz="2400" dirty="0" smtClean="0"/>
              <a:t>pour la </a:t>
            </a:r>
            <a:r>
              <a:rPr lang="fr-FR" sz="2400" dirty="0"/>
              <a:t>pratique du </a:t>
            </a:r>
            <a:r>
              <a:rPr lang="fr-FR" sz="2400" dirty="0" smtClean="0"/>
              <a:t>saut en </a:t>
            </a:r>
            <a:r>
              <a:rPr lang="fr-FR" sz="2400" dirty="0"/>
              <a:t>longueur </a:t>
            </a:r>
            <a:r>
              <a:rPr lang="fr-FR" sz="2400" dirty="0" smtClean="0"/>
              <a:t>au LMAAD</a:t>
            </a:r>
          </a:p>
        </p:txBody>
      </p:sp>
      <p:sp>
        <p:nvSpPr>
          <p:cNvPr id="5" name="Rectangle à coins arrondis 4"/>
          <p:cNvSpPr/>
          <p:nvPr/>
        </p:nvSpPr>
        <p:spPr>
          <a:xfrm>
            <a:off x="5935682" y="1372753"/>
            <a:ext cx="4514850" cy="175656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fr-FR" dirty="0"/>
              <a:t> Identifier les </a:t>
            </a:r>
            <a:r>
              <a:rPr lang="fr-FR" dirty="0" smtClean="0"/>
              <a:t>principaux facteurs psychologiques ,</a:t>
            </a:r>
            <a:r>
              <a:rPr lang="fr-FR" dirty="0"/>
              <a:t>notamment le manque </a:t>
            </a:r>
            <a:r>
              <a:rPr lang="fr-FR" dirty="0" smtClean="0"/>
              <a:t>de confiance </a:t>
            </a:r>
            <a:r>
              <a:rPr lang="fr-FR" dirty="0"/>
              <a:t>en soi et la peur </a:t>
            </a:r>
            <a:r>
              <a:rPr lang="fr-FR" dirty="0" smtClean="0"/>
              <a:t>du jugement</a:t>
            </a:r>
            <a:r>
              <a:rPr lang="fr-FR" dirty="0"/>
              <a:t>, qui influencent </a:t>
            </a:r>
            <a:r>
              <a:rPr lang="fr-FR" dirty="0" smtClean="0"/>
              <a:t>le désintérêt </a:t>
            </a:r>
            <a:r>
              <a:rPr lang="fr-FR" dirty="0"/>
              <a:t>des filles.</a:t>
            </a:r>
          </a:p>
        </p:txBody>
      </p:sp>
      <p:sp>
        <p:nvSpPr>
          <p:cNvPr id="6" name="Rectangle à coins arrondis 5"/>
          <p:cNvSpPr/>
          <p:nvPr/>
        </p:nvSpPr>
        <p:spPr>
          <a:xfrm>
            <a:off x="5935682" y="3321806"/>
            <a:ext cx="4514850" cy="13716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fr-FR" dirty="0"/>
              <a:t> </a:t>
            </a:r>
            <a:r>
              <a:rPr lang="fr-FR" dirty="0" smtClean="0"/>
              <a:t>Examiner </a:t>
            </a:r>
            <a:r>
              <a:rPr lang="fr-FR" dirty="0"/>
              <a:t>l’impact </a:t>
            </a:r>
            <a:r>
              <a:rPr lang="fr-FR" dirty="0" smtClean="0"/>
              <a:t>des conditions </a:t>
            </a:r>
            <a:r>
              <a:rPr lang="fr-FR" dirty="0"/>
              <a:t>matérielles et </a:t>
            </a:r>
            <a:r>
              <a:rPr lang="fr-FR" dirty="0" smtClean="0"/>
              <a:t>des infrastructures </a:t>
            </a:r>
            <a:r>
              <a:rPr lang="fr-FR" dirty="0"/>
              <a:t>sur </a:t>
            </a:r>
            <a:r>
              <a:rPr lang="fr-FR" dirty="0" smtClean="0"/>
              <a:t>leur motivation </a:t>
            </a:r>
            <a:r>
              <a:rPr lang="fr-FR" dirty="0"/>
              <a:t>et </a:t>
            </a:r>
            <a:r>
              <a:rPr lang="fr-FR" dirty="0" smtClean="0"/>
              <a:t>leur participation</a:t>
            </a:r>
            <a:r>
              <a:rPr lang="fr-FR" dirty="0"/>
              <a:t>.</a:t>
            </a:r>
          </a:p>
        </p:txBody>
      </p:sp>
      <p:sp>
        <p:nvSpPr>
          <p:cNvPr id="7" name="Rectangle à coins arrondis 6"/>
          <p:cNvSpPr/>
          <p:nvPr/>
        </p:nvSpPr>
        <p:spPr>
          <a:xfrm>
            <a:off x="5935682" y="4914157"/>
            <a:ext cx="4514850" cy="141036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fr-FR" dirty="0" smtClean="0"/>
              <a:t>Proposer </a:t>
            </a:r>
            <a:r>
              <a:rPr lang="fr-FR" dirty="0"/>
              <a:t>des </a:t>
            </a:r>
            <a:r>
              <a:rPr lang="fr-FR" dirty="0" smtClean="0"/>
              <a:t>stratégies pédagogiques adaptées, capables </a:t>
            </a:r>
            <a:r>
              <a:rPr lang="fr-FR" dirty="0"/>
              <a:t>de renforcer </a:t>
            </a:r>
            <a:r>
              <a:rPr lang="fr-FR" dirty="0" smtClean="0"/>
              <a:t>leur motivation </a:t>
            </a:r>
            <a:r>
              <a:rPr lang="fr-FR" dirty="0"/>
              <a:t>et </a:t>
            </a:r>
            <a:r>
              <a:rPr lang="fr-FR" dirty="0" smtClean="0"/>
              <a:t>leur  implication </a:t>
            </a:r>
            <a:r>
              <a:rPr lang="fr-FR" dirty="0"/>
              <a:t>dans la </a:t>
            </a:r>
            <a:r>
              <a:rPr lang="fr-FR" dirty="0" smtClean="0"/>
              <a:t>pratique du </a:t>
            </a:r>
            <a:r>
              <a:rPr lang="fr-FR" dirty="0"/>
              <a:t>saut en </a:t>
            </a:r>
            <a:r>
              <a:rPr lang="fr-FR" dirty="0" smtClean="0"/>
              <a:t>longueur.</a:t>
            </a:r>
            <a:endParaRPr lang="fr-FR" dirty="0"/>
          </a:p>
        </p:txBody>
      </p:sp>
      <p:sp>
        <p:nvSpPr>
          <p:cNvPr id="8" name="Flèche droite 7"/>
          <p:cNvSpPr/>
          <p:nvPr/>
        </p:nvSpPr>
        <p:spPr>
          <a:xfrm rot="20726794">
            <a:off x="3897332" y="2520381"/>
            <a:ext cx="2038350" cy="2799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Flèche droite 8"/>
          <p:cNvSpPr/>
          <p:nvPr/>
        </p:nvSpPr>
        <p:spPr>
          <a:xfrm>
            <a:off x="3897332" y="4007606"/>
            <a:ext cx="2038350" cy="2468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Flèche droite 9"/>
          <p:cNvSpPr/>
          <p:nvPr/>
        </p:nvSpPr>
        <p:spPr>
          <a:xfrm rot="972303">
            <a:off x="3825948" y="5366397"/>
            <a:ext cx="2193500" cy="27029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073464629"/>
      </p:ext>
    </p:extLst>
  </p:cSld>
  <p:clrMapOvr>
    <a:masterClrMapping/>
  </p:clrMapOvr>
  <p:transition spd="slow">
    <p:randomBar dir="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50472" y="0"/>
            <a:ext cx="10515600" cy="1325563"/>
          </a:xfrm>
        </p:spPr>
        <p:txBody>
          <a:bodyPr/>
          <a:lstStyle/>
          <a:p>
            <a:r>
              <a:rPr lang="fr-FR" dirty="0">
                <a:solidFill>
                  <a:schemeClr val="tx2"/>
                </a:solidFill>
              </a:rPr>
              <a:t>    </a:t>
            </a:r>
            <a:endParaRPr lang="fr-FR" dirty="0">
              <a:solidFill>
                <a:srgbClr val="FF0000"/>
              </a:solidFill>
            </a:endParaRPr>
          </a:p>
        </p:txBody>
      </p:sp>
      <p:sp>
        <p:nvSpPr>
          <p:cNvPr id="3" name="Espace réservé du contenu 2"/>
          <p:cNvSpPr>
            <a:spLocks noGrp="1"/>
          </p:cNvSpPr>
          <p:nvPr>
            <p:ph idx="1"/>
          </p:nvPr>
        </p:nvSpPr>
        <p:spPr>
          <a:xfrm>
            <a:off x="696310" y="1120074"/>
            <a:ext cx="10515600" cy="5737926"/>
          </a:xfrm>
        </p:spPr>
        <p:txBody>
          <a:bodyPr>
            <a:normAutofit fontScale="25000" lnSpcReduction="20000"/>
          </a:bodyPr>
          <a:lstStyle/>
          <a:p>
            <a:pPr marL="0" indent="0" algn="just">
              <a:lnSpc>
                <a:spcPct val="150000"/>
              </a:lnSpc>
              <a:buNone/>
            </a:pPr>
            <a:r>
              <a:rPr lang="fr-FR" sz="7200" b="1" dirty="0">
                <a:solidFill>
                  <a:schemeClr val="accent2"/>
                </a:solidFill>
                <a:latin typeface="+mj-lt"/>
                <a:cs typeface="Times New Roman" pitchFamily="18" charset="0"/>
              </a:rPr>
              <a:t>A</a:t>
            </a:r>
            <a:r>
              <a:rPr lang="fr-FR" sz="7200" b="1" dirty="0" smtClean="0">
                <a:solidFill>
                  <a:schemeClr val="accent2"/>
                </a:solidFill>
                <a:latin typeface="+mj-lt"/>
                <a:cs typeface="Times New Roman" pitchFamily="18" charset="0"/>
              </a:rPr>
              <a:t> </a:t>
            </a:r>
            <a:r>
              <a:rPr lang="fr-FR" sz="7200" b="1" dirty="0">
                <a:solidFill>
                  <a:schemeClr val="accent2"/>
                </a:solidFill>
                <a:latin typeface="+mj-lt"/>
                <a:cs typeface="Times New Roman" pitchFamily="18" charset="0"/>
              </a:rPr>
              <a:t>court terme</a:t>
            </a:r>
          </a:p>
          <a:p>
            <a:pPr algn="just">
              <a:lnSpc>
                <a:spcPct val="150000"/>
              </a:lnSpc>
            </a:pPr>
            <a:r>
              <a:rPr lang="fr-FR" sz="7200" dirty="0">
                <a:latin typeface="+mj-lt"/>
                <a:cs typeface="Times New Roman" pitchFamily="18" charset="0"/>
              </a:rPr>
              <a:t>Adapter les exercices au niveau des élèves ;</a:t>
            </a:r>
          </a:p>
          <a:p>
            <a:pPr algn="just">
              <a:lnSpc>
                <a:spcPct val="150000"/>
              </a:lnSpc>
            </a:pPr>
            <a:r>
              <a:rPr lang="fr-FR" sz="7200" dirty="0">
                <a:latin typeface="+mj-lt"/>
                <a:cs typeface="Times New Roman" pitchFamily="18" charset="0"/>
              </a:rPr>
              <a:t>Valoriser les efforts des filles pendant les séances ;</a:t>
            </a:r>
          </a:p>
          <a:p>
            <a:pPr algn="just">
              <a:lnSpc>
                <a:spcPct val="150000"/>
              </a:lnSpc>
            </a:pPr>
            <a:r>
              <a:rPr lang="fr-FR" sz="7200" dirty="0">
                <a:latin typeface="+mj-lt"/>
                <a:cs typeface="Times New Roman" pitchFamily="18" charset="0"/>
              </a:rPr>
              <a:t>Instaurer un climat de confiance et de motivation.</a:t>
            </a:r>
          </a:p>
          <a:p>
            <a:pPr marL="0" indent="0" algn="just">
              <a:lnSpc>
                <a:spcPct val="150000"/>
              </a:lnSpc>
              <a:buNone/>
            </a:pPr>
            <a:r>
              <a:rPr lang="fr-FR" sz="7200" b="1" dirty="0">
                <a:solidFill>
                  <a:schemeClr val="accent2"/>
                </a:solidFill>
                <a:latin typeface="+mj-lt"/>
                <a:cs typeface="Times New Roman" pitchFamily="18" charset="0"/>
              </a:rPr>
              <a:t>A</a:t>
            </a:r>
            <a:r>
              <a:rPr lang="fr-FR" sz="7200" b="1" dirty="0" smtClean="0">
                <a:solidFill>
                  <a:schemeClr val="accent2"/>
                </a:solidFill>
                <a:latin typeface="+mj-lt"/>
                <a:cs typeface="Times New Roman" pitchFamily="18" charset="0"/>
              </a:rPr>
              <a:t> </a:t>
            </a:r>
            <a:r>
              <a:rPr lang="fr-FR" sz="7200" b="1" dirty="0">
                <a:solidFill>
                  <a:schemeClr val="accent2"/>
                </a:solidFill>
                <a:latin typeface="+mj-lt"/>
                <a:cs typeface="Times New Roman" pitchFamily="18" charset="0"/>
              </a:rPr>
              <a:t>moyen terme</a:t>
            </a:r>
          </a:p>
          <a:p>
            <a:pPr algn="just">
              <a:lnSpc>
                <a:spcPct val="150000"/>
              </a:lnSpc>
            </a:pPr>
            <a:r>
              <a:rPr lang="fr-FR" sz="7200" dirty="0">
                <a:latin typeface="+mj-lt"/>
                <a:cs typeface="Times New Roman" pitchFamily="18" charset="0"/>
              </a:rPr>
              <a:t>Améliorer le matériel et l’espace de pratique ;</a:t>
            </a:r>
          </a:p>
          <a:p>
            <a:pPr algn="just">
              <a:lnSpc>
                <a:spcPct val="150000"/>
              </a:lnSpc>
            </a:pPr>
            <a:r>
              <a:rPr lang="fr-FR" sz="7200" dirty="0">
                <a:latin typeface="+mj-lt"/>
                <a:cs typeface="Times New Roman" pitchFamily="18" charset="0"/>
              </a:rPr>
              <a:t>Organiser davantage d’activités de sensibilisation et de démonstration ;</a:t>
            </a:r>
          </a:p>
          <a:p>
            <a:pPr algn="just">
              <a:lnSpc>
                <a:spcPct val="150000"/>
              </a:lnSpc>
            </a:pPr>
            <a:r>
              <a:rPr lang="fr-FR" sz="7200" dirty="0">
                <a:latin typeface="+mj-lt"/>
                <a:cs typeface="Times New Roman" pitchFamily="18" charset="0"/>
              </a:rPr>
              <a:t>Renforcer l’accompagnement pédagogique des élèves.</a:t>
            </a:r>
          </a:p>
          <a:p>
            <a:pPr marL="0" indent="0" algn="just">
              <a:lnSpc>
                <a:spcPct val="150000"/>
              </a:lnSpc>
              <a:buNone/>
            </a:pPr>
            <a:r>
              <a:rPr lang="fr-FR" sz="7200" b="1" dirty="0">
                <a:solidFill>
                  <a:schemeClr val="accent2"/>
                </a:solidFill>
                <a:latin typeface="+mj-lt"/>
                <a:cs typeface="Times New Roman" pitchFamily="18" charset="0"/>
              </a:rPr>
              <a:t>A</a:t>
            </a:r>
            <a:r>
              <a:rPr lang="fr-FR" sz="7200" b="1" dirty="0" smtClean="0">
                <a:solidFill>
                  <a:schemeClr val="accent2"/>
                </a:solidFill>
                <a:latin typeface="+mj-lt"/>
                <a:cs typeface="Times New Roman" pitchFamily="18" charset="0"/>
              </a:rPr>
              <a:t> </a:t>
            </a:r>
            <a:r>
              <a:rPr lang="fr-FR" sz="7200" b="1" dirty="0">
                <a:solidFill>
                  <a:schemeClr val="accent2"/>
                </a:solidFill>
                <a:latin typeface="+mj-lt"/>
                <a:cs typeface="Times New Roman" pitchFamily="18" charset="0"/>
              </a:rPr>
              <a:t>long terme</a:t>
            </a:r>
          </a:p>
          <a:p>
            <a:pPr algn="just">
              <a:lnSpc>
                <a:spcPct val="150000"/>
              </a:lnSpc>
            </a:pPr>
            <a:r>
              <a:rPr lang="fr-FR" sz="7200" dirty="0">
                <a:latin typeface="+mj-lt"/>
                <a:cs typeface="Times New Roman" pitchFamily="18" charset="0"/>
              </a:rPr>
              <a:t>Promouvoir le sport féminin en milieu scolaire ;</a:t>
            </a:r>
          </a:p>
          <a:p>
            <a:pPr algn="just">
              <a:lnSpc>
                <a:spcPct val="150000"/>
              </a:lnSpc>
            </a:pPr>
            <a:r>
              <a:rPr lang="fr-FR" sz="7200" dirty="0">
                <a:latin typeface="+mj-lt"/>
                <a:cs typeface="Times New Roman" pitchFamily="18" charset="0"/>
              </a:rPr>
              <a:t>Mettre en place des politiques inclusives en EPS ;</a:t>
            </a:r>
          </a:p>
          <a:p>
            <a:pPr algn="just">
              <a:lnSpc>
                <a:spcPct val="150000"/>
              </a:lnSpc>
            </a:pPr>
            <a:r>
              <a:rPr lang="fr-FR" sz="7200" dirty="0">
                <a:latin typeface="+mj-lt"/>
                <a:cs typeface="Times New Roman" pitchFamily="18" charset="0"/>
              </a:rPr>
              <a:t>Renforcer les infrastructures sportives dans les établissements scolaires</a:t>
            </a:r>
            <a:r>
              <a:rPr lang="fr-FR" sz="7200" dirty="0" smtClean="0">
                <a:latin typeface="Times New Roman" pitchFamily="18" charset="0"/>
                <a:cs typeface="Times New Roman" pitchFamily="18" charset="0"/>
              </a:rPr>
              <a:t>.</a:t>
            </a:r>
            <a:endParaRPr lang="fr-FR" sz="7200" dirty="0"/>
          </a:p>
          <a:p>
            <a:pPr marL="0" indent="0">
              <a:buNone/>
            </a:pPr>
            <a:endParaRPr lang="fr-FR" sz="2600" dirty="0">
              <a:latin typeface="Times New Roman" pitchFamily="18" charset="0"/>
              <a:cs typeface="Times New Roman" pitchFamily="18" charset="0"/>
            </a:endParaRPr>
          </a:p>
        </p:txBody>
      </p:sp>
      <p:sp>
        <p:nvSpPr>
          <p:cNvPr id="5" name="Rectangle 4"/>
          <p:cNvSpPr/>
          <p:nvPr/>
        </p:nvSpPr>
        <p:spPr>
          <a:xfrm>
            <a:off x="1050472" y="350633"/>
            <a:ext cx="5794856" cy="769441"/>
          </a:xfrm>
          <a:prstGeom prst="rect">
            <a:avLst/>
          </a:prstGeom>
        </p:spPr>
        <p:txBody>
          <a:bodyPr wrap="square">
            <a:spAutoFit/>
          </a:bodyPr>
          <a:lstStyle/>
          <a:p>
            <a:r>
              <a:rPr lang="fr-FR" sz="4400" dirty="0" smtClean="0">
                <a:solidFill>
                  <a:srgbClr val="FF0000"/>
                </a:solidFill>
                <a:latin typeface="Times New Roman" panose="02020603050405020304" pitchFamily="18" charset="0"/>
                <a:cs typeface="Times New Roman" panose="02020603050405020304" pitchFamily="18" charset="0"/>
              </a:rPr>
              <a:t>VII </a:t>
            </a:r>
            <a:r>
              <a:rPr lang="fr-FR" sz="4400" dirty="0">
                <a:solidFill>
                  <a:srgbClr val="FF0000"/>
                </a:solidFill>
                <a:latin typeface="Times New Roman" panose="02020603050405020304" pitchFamily="18" charset="0"/>
                <a:cs typeface="Times New Roman" panose="02020603050405020304" pitchFamily="18" charset="0"/>
              </a:rPr>
              <a:t>. </a:t>
            </a:r>
            <a:r>
              <a:rPr lang="fr-FR" sz="4400" dirty="0" smtClean="0">
                <a:solidFill>
                  <a:srgbClr val="FF0000"/>
                </a:solidFill>
                <a:latin typeface="Times New Roman" panose="02020603050405020304" pitchFamily="18" charset="0"/>
                <a:cs typeface="Times New Roman" panose="02020603050405020304" pitchFamily="18" charset="0"/>
              </a:rPr>
              <a:t>PRÉCONISATION </a:t>
            </a:r>
            <a:endParaRPr lang="fr-FR" sz="4400" dirty="0"/>
          </a:p>
        </p:txBody>
      </p:sp>
    </p:spTree>
    <p:extLst>
      <p:ext uri="{BB962C8B-B14F-4D97-AF65-F5344CB8AC3E}">
        <p14:creationId xmlns:p14="http://schemas.microsoft.com/office/powerpoint/2010/main" val="615747714"/>
      </p:ext>
    </p:extLst>
  </p:cSld>
  <p:clrMapOvr>
    <a:masterClrMapping/>
  </p:clrMapOvr>
  <p:transition spd="slow">
    <p:randomBar dir="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VIII. CONCLUSION </a:t>
            </a:r>
            <a:endParaRPr lang="fr-FR" dirty="0">
              <a:solidFill>
                <a:srgbClr val="FF0000"/>
              </a:solidFill>
            </a:endParaRPr>
          </a:p>
        </p:txBody>
      </p:sp>
      <p:sp>
        <p:nvSpPr>
          <p:cNvPr id="3" name="Espace réservé du contenu 2"/>
          <p:cNvSpPr>
            <a:spLocks noGrp="1"/>
          </p:cNvSpPr>
          <p:nvPr>
            <p:ph idx="1"/>
          </p:nvPr>
        </p:nvSpPr>
        <p:spPr>
          <a:xfrm>
            <a:off x="484829" y="1583074"/>
            <a:ext cx="8596668" cy="4849810"/>
          </a:xfrm>
        </p:spPr>
        <p:txBody>
          <a:bodyPr>
            <a:normAutofit/>
          </a:bodyPr>
          <a:lstStyle/>
          <a:p>
            <a:pPr>
              <a:buFont typeface="Wingdings" panose="05000000000000000000" pitchFamily="2" charset="2"/>
              <a:buChar char="Ø"/>
            </a:pPr>
            <a:r>
              <a:rPr lang="fr-FR" dirty="0"/>
              <a:t>Tout d’abord, notre stage au Lycée Moderne Alphonse </a:t>
            </a:r>
            <a:r>
              <a:rPr lang="fr-FR" dirty="0" err="1"/>
              <a:t>Assamoi</a:t>
            </a:r>
            <a:r>
              <a:rPr lang="fr-FR" dirty="0"/>
              <a:t> de Divo nous a permis d’observer les réalités de l’enseignement de l’EPS sur le terrain.</a:t>
            </a:r>
          </a:p>
          <a:p>
            <a:pPr>
              <a:buFont typeface="Wingdings" panose="05000000000000000000" pitchFamily="2" charset="2"/>
              <a:buChar char="Ø"/>
            </a:pPr>
            <a:endParaRPr lang="fr-FR" dirty="0" smtClean="0"/>
          </a:p>
          <a:p>
            <a:pPr>
              <a:buFont typeface="Wingdings" panose="05000000000000000000" pitchFamily="2" charset="2"/>
              <a:buChar char="Ø"/>
            </a:pPr>
            <a:r>
              <a:rPr lang="fr-FR" dirty="0" smtClean="0"/>
              <a:t>Ensuite</a:t>
            </a:r>
            <a:r>
              <a:rPr lang="fr-FR" dirty="0"/>
              <a:t>, les observations effectuées ont révélé une faible participation des filles du second cycle lors des séances de saut en longueur</a:t>
            </a:r>
            <a:r>
              <a:rPr lang="fr-FR" dirty="0" smtClean="0"/>
              <a:t>.</a:t>
            </a:r>
          </a:p>
          <a:p>
            <a:pPr>
              <a:buFont typeface="Wingdings" panose="05000000000000000000" pitchFamily="2" charset="2"/>
              <a:buChar char="Ø"/>
            </a:pPr>
            <a:endParaRPr lang="fr-FR" dirty="0"/>
          </a:p>
          <a:p>
            <a:pPr>
              <a:buFont typeface="Wingdings" panose="05000000000000000000" pitchFamily="2" charset="2"/>
              <a:buChar char="Ø"/>
            </a:pPr>
            <a:r>
              <a:rPr lang="fr-FR" dirty="0" smtClean="0"/>
              <a:t>Par </a:t>
            </a:r>
            <a:r>
              <a:rPr lang="fr-FR" dirty="0"/>
              <a:t>ailleurs, ce désintérêt se traduit par un manque de motivation, de confiance en soi et parfois une peur de l’échec.</a:t>
            </a:r>
          </a:p>
          <a:p>
            <a:pPr>
              <a:buFont typeface="Wingdings" panose="05000000000000000000" pitchFamily="2" charset="2"/>
              <a:buChar char="Ø"/>
            </a:pPr>
            <a:endParaRPr lang="fr-FR" dirty="0" smtClean="0"/>
          </a:p>
          <a:p>
            <a:pPr>
              <a:buFont typeface="Wingdings" panose="05000000000000000000" pitchFamily="2" charset="2"/>
              <a:buChar char="Ø"/>
            </a:pPr>
            <a:r>
              <a:rPr lang="fr-FR" dirty="0" smtClean="0"/>
              <a:t>De </a:t>
            </a:r>
            <a:r>
              <a:rPr lang="fr-FR" dirty="0"/>
              <a:t>plus, certains facteurs socioculturels et le regard des autres influencent négativement l’engagement des filles dans cette </a:t>
            </a:r>
            <a:r>
              <a:rPr lang="fr-FR" dirty="0" smtClean="0"/>
              <a:t>activité.</a:t>
            </a:r>
            <a:endParaRPr lang="fr-FR" dirty="0"/>
          </a:p>
        </p:txBody>
      </p:sp>
    </p:spTree>
    <p:extLst>
      <p:ext uri="{BB962C8B-B14F-4D97-AF65-F5344CB8AC3E}">
        <p14:creationId xmlns:p14="http://schemas.microsoft.com/office/powerpoint/2010/main" val="3628034084"/>
      </p:ext>
    </p:extLst>
  </p:cSld>
  <p:clrMapOvr>
    <a:masterClrMapping/>
  </p:clrMapOvr>
  <p:transition spd="slow">
    <p:randomBar dir="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68787" y="220202"/>
            <a:ext cx="8596668" cy="3880773"/>
          </a:xfrm>
        </p:spPr>
        <p:txBody>
          <a:bodyPr/>
          <a:lstStyle/>
          <a:p>
            <a:pPr>
              <a:buFont typeface="Wingdings" panose="05000000000000000000" pitchFamily="2" charset="2"/>
              <a:buChar char="Ø"/>
            </a:pPr>
            <a:r>
              <a:rPr lang="fr-FR" dirty="0"/>
              <a:t>En outre, l’insuffisance du matériel et des infrastructures limite également les conditions de pratique.</a:t>
            </a:r>
          </a:p>
          <a:p>
            <a:pPr>
              <a:buFont typeface="Wingdings" panose="05000000000000000000" pitchFamily="2" charset="2"/>
              <a:buChar char="Ø"/>
            </a:pPr>
            <a:endParaRPr lang="fr-FR" dirty="0" smtClean="0"/>
          </a:p>
          <a:p>
            <a:pPr>
              <a:buFont typeface="Wingdings" panose="05000000000000000000" pitchFamily="2" charset="2"/>
              <a:buChar char="Ø"/>
            </a:pPr>
            <a:r>
              <a:rPr lang="fr-FR" dirty="0" smtClean="0"/>
              <a:t>Sur </a:t>
            </a:r>
            <a:r>
              <a:rPr lang="fr-FR" dirty="0"/>
              <a:t>le plan pédagogique, certaines méthodes d’enseignement peu adaptées peuvent accentuer les difficultés des élèves.</a:t>
            </a:r>
          </a:p>
          <a:p>
            <a:pPr>
              <a:buFont typeface="Wingdings" panose="05000000000000000000" pitchFamily="2" charset="2"/>
              <a:buChar char="Ø"/>
            </a:pPr>
            <a:endParaRPr lang="fr-FR" dirty="0" smtClean="0"/>
          </a:p>
          <a:p>
            <a:pPr>
              <a:buFont typeface="Wingdings" panose="05000000000000000000" pitchFamily="2" charset="2"/>
              <a:buChar char="Ø"/>
            </a:pPr>
            <a:r>
              <a:rPr lang="fr-FR" dirty="0" smtClean="0"/>
              <a:t>Face </a:t>
            </a:r>
            <a:r>
              <a:rPr lang="fr-FR" dirty="0"/>
              <a:t>à cette situation, des solutions ont été proposées, notamment des exercices progressifs, des méthodes actives et un climat de confiance.</a:t>
            </a:r>
          </a:p>
          <a:p>
            <a:pPr>
              <a:buFont typeface="Wingdings" panose="05000000000000000000" pitchFamily="2" charset="2"/>
              <a:buChar char="Ø"/>
            </a:pPr>
            <a:endParaRPr lang="fr-FR" dirty="0" smtClean="0"/>
          </a:p>
          <a:p>
            <a:pPr>
              <a:buFont typeface="Wingdings" panose="05000000000000000000" pitchFamily="2" charset="2"/>
              <a:buChar char="Ø"/>
            </a:pPr>
            <a:r>
              <a:rPr lang="fr-FR" dirty="0" smtClean="0"/>
              <a:t>Enfin</a:t>
            </a:r>
            <a:r>
              <a:rPr lang="fr-FR" dirty="0"/>
              <a:t>, une meilleure prise en compte des besoins des filles permettra de favoriser leur motivation et leur participation au saut en longueur.</a:t>
            </a:r>
          </a:p>
          <a:p>
            <a:endParaRPr lang="fr-FR" dirty="0"/>
          </a:p>
          <a:p>
            <a:endParaRPr lang="fr-FR" dirty="0"/>
          </a:p>
        </p:txBody>
      </p:sp>
    </p:spTree>
    <p:extLst>
      <p:ext uri="{BB962C8B-B14F-4D97-AF65-F5344CB8AC3E}">
        <p14:creationId xmlns:p14="http://schemas.microsoft.com/office/powerpoint/2010/main" val="3873811208"/>
      </p:ext>
    </p:extLst>
  </p:cSld>
  <p:clrMapOvr>
    <a:masterClrMapping/>
  </p:clrMapOvr>
  <p:transition spd="slow">
    <p:randomBar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734291" y="1243735"/>
            <a:ext cx="10515600" cy="4351338"/>
          </a:xfrm>
        </p:spPr>
        <p:txBody>
          <a:bodyPr/>
          <a:lstStyle/>
          <a:p>
            <a:endParaRPr lang="fr-FR" dirty="0"/>
          </a:p>
          <a:p>
            <a:endParaRPr lang="fr-FR" dirty="0"/>
          </a:p>
          <a:p>
            <a:endParaRPr lang="fr-FR" dirty="0"/>
          </a:p>
          <a:p>
            <a:endParaRPr lang="fr-FR" dirty="0"/>
          </a:p>
          <a:p>
            <a:endParaRPr lang="fr-FR" dirty="0"/>
          </a:p>
        </p:txBody>
      </p:sp>
      <p:sp>
        <p:nvSpPr>
          <p:cNvPr id="4" name="Ellipse 3"/>
          <p:cNvSpPr/>
          <p:nvPr/>
        </p:nvSpPr>
        <p:spPr>
          <a:xfrm>
            <a:off x="187036" y="857981"/>
            <a:ext cx="12004964" cy="450965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fr-FR" sz="3200" dirty="0">
                <a:latin typeface="Arial" panose="020B0604020202020204" pitchFamily="34" charset="0"/>
                <a:cs typeface="Arial" panose="020B0604020202020204" pitchFamily="34" charset="0"/>
              </a:rPr>
              <a:t> </a:t>
            </a:r>
          </a:p>
        </p:txBody>
      </p:sp>
      <p:sp>
        <p:nvSpPr>
          <p:cNvPr id="5" name="Rectangle 4"/>
          <p:cNvSpPr/>
          <p:nvPr/>
        </p:nvSpPr>
        <p:spPr>
          <a:xfrm>
            <a:off x="1550843" y="2705100"/>
            <a:ext cx="9277350" cy="2378511"/>
          </a:xfrm>
          <a:prstGeom prst="rect">
            <a:avLst/>
          </a:prstGeom>
          <a:noFill/>
        </p:spPr>
        <p:txBody>
          <a:bodyPr wrap="none" lIns="91440" tIns="45720" rIns="91440" bIns="45720">
            <a:prstTxWarp prst="textDeflateBottom">
              <a:avLst/>
            </a:prstTxWarp>
            <a:spAutoFit/>
          </a:bodyPr>
          <a:lstStyle/>
          <a:p>
            <a:pPr algn="ctr"/>
            <a:r>
              <a:rPr lang="fr-FR" sz="5400" dirty="0" smtClean="0">
                <a:latin typeface="Arial" panose="020B0604020202020204" pitchFamily="34" charset="0"/>
                <a:cs typeface="Arial" panose="020B0604020202020204" pitchFamily="34" charset="0"/>
              </a:rPr>
              <a:t>MERCI </a:t>
            </a:r>
            <a:r>
              <a:rPr lang="fr-FR" sz="5400" dirty="0">
                <a:latin typeface="Arial" panose="020B0604020202020204" pitchFamily="34" charset="0"/>
                <a:cs typeface="Arial" panose="020B0604020202020204" pitchFamily="34" charset="0"/>
              </a:rPr>
              <a:t>DE VOTRE AIMABLE  ATTENTION</a:t>
            </a:r>
          </a:p>
          <a:p>
            <a:pPr algn="ctr"/>
            <a:endParaRPr lang="fr-FR"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Tree>
    <p:extLst>
      <p:ext uri="{BB962C8B-B14F-4D97-AF65-F5344CB8AC3E}">
        <p14:creationId xmlns:p14="http://schemas.microsoft.com/office/powerpoint/2010/main" val="2073424319"/>
      </p:ext>
    </p:extLst>
  </p:cSld>
  <p:clrMapOvr>
    <a:masterClrMapping/>
  </p:clrMapOvr>
  <p:transition spd="slow">
    <p:randomBar dir="vert"/>
  </p:transition>
  <p:timing>
    <p:tnLst>
      <p:par>
        <p:cTn id="1" dur="indefinite" restart="never" nodeType="tmRoot"/>
      </p:par>
    </p:tnLst>
  </p:timing>
</p:sld>
</file>

<file path=ppt/theme/theme1.xml><?xml version="1.0" encoding="utf-8"?>
<a:theme xmlns:a="http://schemas.openxmlformats.org/drawingml/2006/main" name="Facette">
  <a:themeElements>
    <a:clrScheme name="Facette">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te">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te">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2226</TotalTime>
  <Words>1601</Words>
  <Application>Microsoft Office PowerPoint</Application>
  <PresentationFormat>Grand écran</PresentationFormat>
  <Paragraphs>144</Paragraphs>
  <Slides>15</Slides>
  <Notes>12</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15</vt:i4>
      </vt:variant>
    </vt:vector>
  </HeadingPairs>
  <TitlesOfParts>
    <vt:vector size="22" baseType="lpstr">
      <vt:lpstr>Arial</vt:lpstr>
      <vt:lpstr>Calibri</vt:lpstr>
      <vt:lpstr>Times New Roman</vt:lpstr>
      <vt:lpstr>Trebuchet MS</vt:lpstr>
      <vt:lpstr>Wingdings</vt:lpstr>
      <vt:lpstr>Wingdings 3</vt:lpstr>
      <vt:lpstr>Facette</vt:lpstr>
      <vt:lpstr>Présentation PowerPoint</vt:lpstr>
      <vt:lpstr>Présentation PowerPoint</vt:lpstr>
      <vt:lpstr>          </vt:lpstr>
      <vt:lpstr>Présentation PowerPoint</vt:lpstr>
      <vt:lpstr>                  I.INTRODUCTION</vt:lpstr>
      <vt:lpstr>   II. PRESENTATION DU LMAAD</vt:lpstr>
      <vt:lpstr>           III. OBJECTIF DE L’EPS</vt:lpstr>
      <vt:lpstr>        IV.DESCRIPTION DE L’ACTIVITÉ </vt:lpstr>
      <vt:lpstr>                         V. BILAN DE STAGE</vt:lpstr>
      <vt:lpstr>VI. PROBLEMATIQUE 1 /2</vt:lpstr>
      <vt:lpstr>   PROBLÉMATIQUE 2/2</vt:lpstr>
      <vt:lpstr>    </vt:lpstr>
      <vt:lpstr>VIII. CONCLUSION </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SANOGO Aly Balé</dc:creator>
  <cp:lastModifiedBy>KARAMOKO BAMBA</cp:lastModifiedBy>
  <cp:revision>264</cp:revision>
  <dcterms:created xsi:type="dcterms:W3CDTF">2021-11-08T11:05:05Z</dcterms:created>
  <dcterms:modified xsi:type="dcterms:W3CDTF">2026-05-12T19:11:41Z</dcterms:modified>
</cp:coreProperties>
</file>